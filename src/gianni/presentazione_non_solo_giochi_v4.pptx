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Correlazione</c:v>
                </c:pt>
              </c:strCache>
            </c:strRef>
          </c:tx>
          <c:spPr>
            <a:solidFill>
              <a:srgbClr val="1C9C8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624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Spesa Pubblica</c:v>
                  </c:pt>
                  <c:pt idx="1">
                    <c:v>PIL Assoluto</c:v>
                  </c:pt>
                  <c:pt idx="2">
                    <c:v>Popolaz. Urbana</c:v>
                  </c:pt>
                  <c:pt idx="3">
                    <c:v>Superficie</c:v>
                  </c:pt>
                  <c:pt idx="4">
                    <c:v>Popolaz. Totale</c:v>
                  </c:pt>
                  <c:pt idx="5">
                    <c:v>Aspett. Vita</c:v>
                  </c:pt>
                  <c:pt idx="6">
                    <c:v>RNL Pro Capite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0.73</c:v>
                </c:pt>
                <c:pt idx="1">
                  <c:v>0.7</c:v>
                </c:pt>
                <c:pt idx="2">
                  <c:v>0.59</c:v>
                </c:pt>
                <c:pt idx="3">
                  <c:v>0.5</c:v>
                </c:pt>
                <c:pt idx="4">
                  <c:v>0.38</c:v>
                </c:pt>
                <c:pt idx="5">
                  <c:v>0.22</c:v>
                </c:pt>
                <c:pt idx="6">
                  <c:v>0.22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100" u="none">
                  <a:solidFill>
                    <a:srgbClr val="1624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34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Correlazione per edizione</c:v>
                </c:pt>
              </c:strCache>
            </c:strRef>
          </c:tx>
          <c:spPr>
            <a:solidFill>
              <a:srgbClr val="1C9C8E"/>
            </a:solidFill>
            <a:ln w="38100" cap="flat">
              <a:solidFill>
                <a:srgbClr val="1C9C8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9C8E"/>
              </a:solidFill>
              <a:ln w="9525" cap="flat">
                <a:solidFill>
                  <a:srgbClr val="1C9C8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1964</c:v>
                  </c:pt>
                  <c:pt idx="1">
                    <c:v>1968</c:v>
                  </c:pt>
                  <c:pt idx="2">
                    <c:v>1972</c:v>
                  </c:pt>
                  <c:pt idx="3">
                    <c:v>1976</c:v>
                  </c:pt>
                  <c:pt idx="4">
                    <c:v>1980</c:v>
                  </c:pt>
                  <c:pt idx="5">
                    <c:v>1984</c:v>
                  </c:pt>
                  <c:pt idx="6">
                    <c:v>1988</c:v>
                  </c:pt>
                  <c:pt idx="7">
                    <c:v>1992</c:v>
                  </c:pt>
                  <c:pt idx="8">
                    <c:v>1996</c:v>
                  </c:pt>
                  <c:pt idx="9">
                    <c:v>2000</c:v>
                  </c:pt>
                  <c:pt idx="10">
                    <c:v>2004</c:v>
                  </c:pt>
                  <c:pt idx="11">
                    <c:v>2008</c:v>
                  </c:pt>
                  <c:pt idx="12">
                    <c:v>2012</c:v>
                  </c:pt>
                  <c:pt idx="13">
                    <c:v>2016</c:v>
                  </c:pt>
                  <c:pt idx="14">
                    <c:v>2020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0.91</c:v>
                </c:pt>
                <c:pt idx="1">
                  <c:v>0.96</c:v>
                </c:pt>
                <c:pt idx="2">
                  <c:v>0.9</c:v>
                </c:pt>
                <c:pt idx="3">
                  <c:v>0.93</c:v>
                </c:pt>
                <c:pt idx="4">
                  <c:v>0.13</c:v>
                </c:pt>
                <c:pt idx="5">
                  <c:v>0.93</c:v>
                </c:pt>
                <c:pt idx="6">
                  <c:v>0.84</c:v>
                </c:pt>
                <c:pt idx="7">
                  <c:v>0.77</c:v>
                </c:pt>
                <c:pt idx="8">
                  <c:v>0.72</c:v>
                </c:pt>
                <c:pt idx="9">
                  <c:v>0.65</c:v>
                </c:pt>
                <c:pt idx="10">
                  <c:v>0.73</c:v>
                </c:pt>
                <c:pt idx="11">
                  <c:v>0.78</c:v>
                </c:pt>
                <c:pt idx="12">
                  <c:v>0.85</c:v>
                </c:pt>
                <c:pt idx="13">
                  <c:v>0.89</c:v>
                </c:pt>
                <c:pt idx="14">
                  <c:v>0.89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34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2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Importanza</c:v>
                </c:pt>
              </c:strCache>
            </c:strRef>
          </c:tx>
          <c:spPr>
            <a:solidFill>
              <a:srgbClr val="1C9C8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Lag1</c:v>
                </c:pt>
                <c:pt idx="1">
                  <c:v>MediaMobile3</c:v>
                </c:pt>
                <c:pt idx="2">
                  <c:v>Pop. Urbana</c:v>
                </c:pt>
                <c:pt idx="3">
                  <c:v>PIL (log)</c:v>
                </c:pt>
                <c:pt idx="4">
                  <c:v>Iscrizioni Scuola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58.8</c:v>
                </c:pt>
                <c:pt idx="1">
                  <c:v>18.0</c:v>
                </c:pt>
                <c:pt idx="2">
                  <c:v>4.5</c:v>
                </c:pt>
                <c:pt idx="3">
                  <c:v>3.6</c:v>
                </c:pt>
                <c:pt idx="4">
                  <c:v>3.0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8D0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Osservazioni</c:v>
                </c:pt>
              </c:strCache>
            </c:strRef>
          </c:tx>
          <c:spPr>
            <a:solidFill>
              <a:srgbClr val="3B6E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624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Nessuna</c:v>
                  </c:pt>
                  <c:pt idx="1">
                    <c:v>Limitato (1-5)</c:v>
                  </c:pt>
                  <c:pt idx="2">
                    <c:v>Medio (6-20)</c:v>
                  </c:pt>
                  <c:pt idx="3">
                    <c:v>Elevato (&gt;20)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1948</c:v>
                </c:pt>
                <c:pt idx="1">
                  <c:v>331</c:v>
                </c:pt>
                <c:pt idx="2">
                  <c:v>195</c:v>
                </c:pt>
                <c:pt idx="3">
                  <c:v>117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624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34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0"/>
          <c:min val="0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640080"/>
            <a:ext cx="457200" cy="457200"/>
          </a:xfrm>
          <a:prstGeom prst="ellipse">
            <a:avLst/>
          </a:prstGeom>
          <a:ln w="31750">
            <a:solidFill>
              <a:srgbClr val="1C9C8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98480" y="640080"/>
            <a:ext cx="457200" cy="457200"/>
          </a:xfrm>
          <a:prstGeom prst="ellipse">
            <a:avLst/>
          </a:prstGeom>
          <a:ln w="31750">
            <a:solidFill>
              <a:srgbClr val="E0A526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064240" y="640080"/>
            <a:ext cx="457200" cy="457200"/>
          </a:xfrm>
          <a:prstGeom prst="ellipse">
            <a:avLst/>
          </a:prstGeom>
          <a:ln w="317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5669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DI PISA · Master in Big Data Analytics &amp; AI for Society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solo Giochi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Fattori socio-economici e demografici del successo olimpico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dataset_olimpiadi_indicatori_ita.csv</a:t>
            </a:r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~2.622 osservazioni   ·   1964–2020   ·   Gruppo 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5989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Dataset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85416" y="59893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185416" y="5989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Pulizia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22192" y="59893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822192" y="5989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EDA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58968" y="59893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58968" y="5989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Clustering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95744" y="59893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095744" y="5989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Random Forest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32520" y="59893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732520" y="5989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Residui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369296" y="59893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369296" y="59893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Conclusioni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Dataset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Struttura, copertura e variabili costruite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2.622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112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Osservazioni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(dopo pulizia)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1964–2020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0" y="2112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edizioni estive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0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5943600" y="2112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Nazioni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partecipanti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0" y="1325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F9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686800" y="21122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recuperate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dropna brutale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54864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3063240"/>
            <a:ext cx="64008" cy="1554480"/>
          </a:xfrm>
          <a:prstGeom prst="rect">
            <a:avLst/>
          </a:prstGeom>
          <a:solidFill>
            <a:srgbClr val="1C9C8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" y="317296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Variabile target: Score_Medaglie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" y="3483864"/>
            <a:ext cx="51023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Punteggio pesato delle medaglie:  Oro × 3 + Argento × 2 + Bronzo × 1.  Premia la qualità del bottino, non solo la quantità. È la variabile che tutti i modelli cercano di prevedere.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063240"/>
            <a:ext cx="55778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126480" y="3063240"/>
            <a:ext cx="64008" cy="1554480"/>
          </a:xfrm>
          <a:prstGeom prst="rect">
            <a:avLst/>
          </a:prstGeom>
          <a:solidFill>
            <a:srgbClr val="E0A52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27648" y="317296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Indicatori macroeconomici (World Bank)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27648" y="3483864"/>
            <a:ext cx="51937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assoluto e pro capite, popolazione totale e urbana, aspettativa di vita, iscrizioni scolastiche.  Catturano ricchezza, demografia e sviluppo umano di ogni nazione.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54864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57200" y="4754880"/>
            <a:ext cx="64008" cy="1691640"/>
          </a:xfrm>
          <a:prstGeom prst="rect">
            <a:avLst/>
          </a:prstGeom>
          <a:solidFill>
            <a:srgbClr val="3B6EA5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8368" y="48646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 lag (storico)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8368" y="5175504"/>
            <a:ext cx="510235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Score_Medaglie_Lag1 (edizione precedente) e MediaMobile3 (media ultime 3 edizioni).  Catturano l'inerzia del sistema sportivo:  chi vinceva, tende a vincere ancora.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4754880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126480" y="4754880"/>
            <a:ext cx="64008" cy="1691640"/>
          </a:xfrm>
          <a:prstGeom prst="rect">
            <a:avLst/>
          </a:prstGeom>
          <a:solidFill>
            <a:srgbClr val="4F9D69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327648" y="486460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derivate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327648" y="5175504"/>
            <a:ext cx="51937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Trasformazioni log (PIL, popolazione) per gestire le scale, interazione PIL × Popolazione, flag Host (paese ospitante) e Ha_Storico_Precedente per le prime partecipazioni.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Pulizia Intelligente dei Dati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conservativa: recuperare invece di eliminare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3.362 → 2.622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157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dopo pulizia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0" y="1371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3 anni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657600" y="21579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Interpolazione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buchi piccoli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778240" y="1371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pilastri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8778240" y="21579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imputati: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· Pop · Score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21945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0" y="1371600"/>
            <a:ext cx="64008" cy="1325880"/>
          </a:xfrm>
          <a:prstGeom prst="rect">
            <a:avLst/>
          </a:prstGeom>
          <a:solidFill>
            <a:srgbClr val="4F9D6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01968" y="14813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per nazione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01968" y="1792224"/>
            <a:ext cx="181051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Imputazione robusta agli outlier, calcolata sul valore tipico di ogni singola nazione.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3200400"/>
            <a:ext cx="64008" cy="3200400"/>
          </a:xfrm>
          <a:prstGeom prst="rect">
            <a:avLst/>
          </a:prstGeom>
          <a:solidFill>
            <a:srgbClr val="1C9C8E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8368" y="33101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Interpolazione limitata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8368" y="3621024"/>
            <a:ext cx="3273552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buchi temporali fino a 3 anni vengono stimati con interpolazione lineare, calcolata separatamente dentro ogni nazione (groupby).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Buchi più ampi restano vuoti: meglio un dato mancante che un trend inventato.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320040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251960" y="3200400"/>
            <a:ext cx="64008" cy="3200400"/>
          </a:xfrm>
          <a:prstGeom prst="rect">
            <a:avLst/>
          </a:prstGeom>
          <a:solidFill>
            <a:srgbClr val="3B6EA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453128" y="33101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Imputazione conservativa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453128" y="3621024"/>
            <a:ext cx="3273552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valori ancora mancanti vengono riempiti con la mediana storica della stessa nazione.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mediana è preferita alla media perché robusta agli outlier;  per nazione perché l'aspettativa di vita del Giappone è diversa da quella del Ciad.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6720" y="320040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046720" y="3200400"/>
            <a:ext cx="64008" cy="3200400"/>
          </a:xfrm>
          <a:prstGeom prst="rect">
            <a:avLst/>
          </a:prstGeom>
          <a:solidFill>
            <a:srgbClr val="E0A526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47888" y="33101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Eliminazione mirata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47888" y="3621024"/>
            <a:ext cx="3273552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colonne con oltre il 40% di valori mancanti vengono rimosse interamente.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righe vengono eliminate solo se manca uno dei tre pilastri (PIL, Popolazione, Score):  dati senza i quali l'osservazione è inutilizzabile.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Esplorativa — Correlazioni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Determinanti macroeconomici dello Score Medaglie (r di Pearson)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60350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766560" y="1371600"/>
            <a:ext cx="4937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766560" y="1371600"/>
            <a:ext cx="64008" cy="1508760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8" name="Text 5"/>
          <p:cNvSpPr/>
          <p:nvPr/>
        </p:nvSpPr>
        <p:spPr>
          <a:xfrm>
            <a:off x="6967728" y="14813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 batte ricchezza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67728" y="1792224"/>
            <a:ext cx="455371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assoluto (0.70) e spesa pubblica (0.73) dominano: conta la massa aggregata di risorse del sistema-paese, non la ricchezza del singolo cittadino.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766560" y="3017520"/>
            <a:ext cx="4937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66560" y="3017520"/>
            <a:ext cx="64008" cy="150876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2" name="Text 9"/>
          <p:cNvSpPr/>
          <p:nvPr/>
        </p:nvSpPr>
        <p:spPr>
          <a:xfrm>
            <a:off x="6967728" y="31272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Reddito pro capite debole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967728" y="3438144"/>
            <a:ext cx="455371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RNL pro capite a 0.22: il benessere individuale spiega poco. Kenya ed Etiopia, poveri pro capite, vincono molte medaglie.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4663440"/>
            <a:ext cx="4937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766560" y="4663440"/>
            <a:ext cx="64008" cy="1691640"/>
          </a:xfrm>
          <a:prstGeom prst="rect">
            <a:avLst/>
          </a:prstGeom>
          <a:solidFill>
            <a:srgbClr val="3B6EA5"/>
          </a:solidFill>
          <a:ln/>
        </p:spPr>
      </p:sp>
      <p:sp>
        <p:nvSpPr>
          <p:cNvPr id="16" name="Text 13"/>
          <p:cNvSpPr/>
          <p:nvPr/>
        </p:nvSpPr>
        <p:spPr>
          <a:xfrm>
            <a:off x="6967728" y="47731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Doppia misura della correlazione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967728" y="5084064"/>
            <a:ext cx="455371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correlazione complessiva è ~0.70, ma per singola edizione sale a ~0.84. Nel 1980 crolla a 0.13: il boicottaggio di Mosca spezza il legame PIL–medaglie.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Correlazione PIL–Medaglie nel Tempo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Correlazione per singola edizione · l'anomalia del 1980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606040" y="5074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1980: crollo a 0.13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680960" y="1371600"/>
            <a:ext cx="40233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80960" y="1371600"/>
            <a:ext cx="64008" cy="1691640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9" name="Text 6"/>
          <p:cNvSpPr/>
          <p:nvPr/>
        </p:nvSpPr>
        <p:spPr>
          <a:xfrm>
            <a:off x="7882128" y="14813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misure diverse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882128" y="1792224"/>
            <a:ext cx="363931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correlazione complessiva (tutte le edizioni insieme) è ~0.70. Quella per singola edizione, mostrata qui, è in media ~0.84: confronta nazioni nello stesso contesto storico.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80960" y="3200400"/>
            <a:ext cx="40233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80960" y="3200400"/>
            <a:ext cx="64008" cy="169164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3" name="Text 10"/>
          <p:cNvSpPr/>
          <p:nvPr/>
        </p:nvSpPr>
        <p:spPr>
          <a:xfrm>
            <a:off x="7882128" y="33101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L'anomalia del 1980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882128" y="3621024"/>
            <a:ext cx="363931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crollo a 0.13 è l'effetto del boicottaggio di Mosca: con le grandi economie occidentali assenti, il legame tra PIL e medaglie salta del tutto per quell'edizione.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80960" y="502920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680960" y="5029200"/>
            <a:ext cx="64008" cy="1371600"/>
          </a:xfrm>
          <a:prstGeom prst="rect">
            <a:avLst/>
          </a:prstGeom>
          <a:solidFill>
            <a:srgbClr val="3B6EA5"/>
          </a:solidFill>
          <a:ln/>
        </p:spPr>
      </p:sp>
      <p:sp>
        <p:nvSpPr>
          <p:cNvPr id="17" name="Text 14"/>
          <p:cNvSpPr/>
          <p:nvPr/>
        </p:nvSpPr>
        <p:spPr>
          <a:xfrm>
            <a:off x="7882128" y="51389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Stabilità del segnale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882128" y="5449824"/>
            <a:ext cx="36393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Fuori dal 1980, la correlazione resta alta e stabile (0.65–0.96): la relazione economia–medaglie è strutturale e robusta nel tempo.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Segmentazione — Clustering K-Means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profili di nazioni · k=3 (gomito + silhouette 0.38)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3657600" cy="548640"/>
          </a:xfrm>
          <a:prstGeom prst="rect">
            <a:avLst/>
          </a:prstGeom>
          <a:solidFill>
            <a:srgbClr val="1C9C8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1371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Grandi Potenze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" y="20848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medio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86000" y="20848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~507 mld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792" y="2542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Popolazione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86000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~72,6 mln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" y="29992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medio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86000" y="29992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1792" y="34564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Osservazioni (N)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86000" y="34564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833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51960" y="137160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251960" y="1371600"/>
            <a:ext cx="3657600" cy="548640"/>
          </a:xfrm>
          <a:prstGeom prst="rect">
            <a:avLst/>
          </a:prstGeom>
          <a:solidFill>
            <a:srgbClr val="3B6EA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389120" y="1371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Economie Emergenti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16552" y="20848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medio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80760" y="20848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~7,3 mld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16552" y="2542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Popolazione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80760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~13,2 mln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16552" y="29992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medio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80760" y="29992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16552" y="34564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Osservazioni (N)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080760" y="34564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1.089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046720" y="137160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046720" y="1371600"/>
            <a:ext cx="3657600" cy="548640"/>
          </a:xfrm>
          <a:prstGeom prst="rect">
            <a:avLst/>
          </a:prstGeom>
          <a:solidFill>
            <a:srgbClr val="E0A526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183880" y="1371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Nazioni Minori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11312" y="20848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medio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875520" y="20848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mld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211312" y="2542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Popolazione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875520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~316 mila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211312" y="29992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medio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875520" y="29992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211312" y="34564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Osservazioni (N)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875520" y="34564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57200" y="4297680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57200" y="4297680"/>
            <a:ext cx="64008" cy="2103120"/>
          </a:xfrm>
          <a:prstGeom prst="rect">
            <a:avLst/>
          </a:prstGeom>
          <a:solidFill>
            <a:srgbClr val="1C9C8E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58368" y="44074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lettura economica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58368" y="4718304"/>
            <a:ext cx="510235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Grandi Potenze combinano PIL elevato e grande popolazione — il doppio moltiplicatore. Le Economie Emergenti hanno il capitale demografico ma non quello economico per attivarlo. Le Nazioni Minori hanno benessere individuale ma un pool di atleti troppo piccolo.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26480" y="4297680"/>
            <a:ext cx="55778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126480" y="4297680"/>
            <a:ext cx="64008" cy="2103120"/>
          </a:xfrm>
          <a:prstGeom prst="rect">
            <a:avLst/>
          </a:prstGeom>
          <a:solidFill>
            <a:srgbClr val="E0A526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327648" y="440740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silhouette 0.38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6327648" y="4718304"/>
            <a:ext cx="519379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valore moderato è normale per dati socio-economici reali, che non formano gruppi nettamente separati. Il metodo del gomito conferma k=3. Il clustering serve a interpretare i profili, non a fare previsioni — dentro ogni gruppo emergono over e under performer.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Predittivo — Random Forest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principale: cattura le non-linearità che la regressione lineare non vede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(scala reale)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200400" y="21214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(medaglie)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0.664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943600" y="21214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media 5-fold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0" y="1325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0.47*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686800" y="2121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lineare (scala log)*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Importanza delle feature (%)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365760" y="3246120"/>
          <a:ext cx="58521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6492240" y="3246120"/>
            <a:ext cx="5212080" cy="146304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492240" y="3246120"/>
            <a:ext cx="64008" cy="1463040"/>
          </a:xfrm>
          <a:prstGeom prst="rect">
            <a:avLst/>
          </a:prstGeom>
          <a:solidFill>
            <a:srgbClr val="1C9C8E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675120" y="335584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lag domina (~77%)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675120" y="3666744"/>
            <a:ext cx="48646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storico recente è il miglior predittore: i sistemi sportivi hanno un'inerzia fortissima. Il passato (T−1) predice il futuro, non se stesso.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92240" y="4864608"/>
            <a:ext cx="5212080" cy="150876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6492240" y="4864608"/>
            <a:ext cx="64008" cy="1508760"/>
          </a:xfrm>
          <a:prstGeom prst="rect">
            <a:avLst/>
          </a:prstGeom>
          <a:solidFill>
            <a:srgbClr val="E0A526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675120" y="497433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PIL è incorporato nel lag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675120" y="5285232"/>
            <a:ext cx="486460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PIL scende al 3,6% non perché irrilevante, ma perché un lag alto esiste proprio grazie a risorse economiche pregresse. Resta il driver strutturale di lungo periodo (correlazione 0.70). *Il confronto lineare è in scala log: in scala reale il numero esplode per un'amplificazione esponenziale, non è un errore di calcolo.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Modelli — Perché Random Forest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fenomeno è non lineare: il Random Forest batte nettamente il lineare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9C8E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6459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in scala log · cattura le non-linearità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3949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504D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09360" y="16459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REGRESSIONE LINEARE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19456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6309360" y="3383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 il 47% della varianza (scala log)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54864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4389120"/>
            <a:ext cx="64008" cy="2011680"/>
          </a:xfrm>
          <a:prstGeom prst="rect">
            <a:avLst/>
          </a:prstGeom>
          <a:solidFill>
            <a:srgbClr val="E0A52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" y="449884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il lineare crolla così tanto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" y="4809744"/>
            <a:ext cx="510235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Random Forest spiega il 68% della varianza (scala log), la regressione lineare il 47%. In scala reale il confronto diretto non è stabile per il modello lineare (un singolo errore esplode dopo la trasformazione inversa): il confronto onesto va fatto qui, in scala log. Il divario dimostra che le relazioni tra risorse e medaglie hanno interazioni ed effetti soglia che un modello additivo non può cogliere.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4389120"/>
            <a:ext cx="5577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126480" y="4389120"/>
            <a:ext cx="64008" cy="2011680"/>
          </a:xfrm>
          <a:prstGeom prst="rect">
            <a:avLst/>
          </a:prstGeom>
          <a:solidFill>
            <a:srgbClr val="1C9C8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27648" y="449884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dimostra il confronto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27648" y="4809744"/>
            <a:ext cx="519379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relazioni tra PIL, demografia e medaglie hanno interazioni ed effetti soglia che un modello additivo non può cogliere. Il Random Forest, lavorando con split locali, le cattura. È l'argomento più forte a favore della scelta di un modello non lineare.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dei Residui — Efficienza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le nazioni deviano dal loro potenziale strutturale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157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non spiegata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spazio dell'efficienza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96112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F9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0.834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961120" y="2157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classificatore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fasce (baseline 0.75)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53949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383280" y="1371600"/>
            <a:ext cx="64008" cy="1325880"/>
          </a:xfrm>
          <a:prstGeom prst="rect">
            <a:avLst/>
          </a:prstGeom>
          <a:solidFill>
            <a:srgbClr val="3B6E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84448" y="14813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misurano i residui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84448" y="1792224"/>
            <a:ext cx="501091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residuo è la differenza tra medaglie reali e previste: positivo = la nazione vince più del previsto (efficienza), negativo = meno. È il cuore concettuale del progetto.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54864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2971800"/>
            <a:ext cx="64008" cy="3383280"/>
          </a:xfrm>
          <a:prstGeom prst="rect">
            <a:avLst/>
          </a:prstGeom>
          <a:solidFill>
            <a:srgbClr val="4F9D69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" y="30815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Over-performer strutturali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" y="3392424"/>
            <a:ext cx="510235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Cuba, Ungheria (residui del modello); Kenya, Giamaica (efficienza medaglie/PIL).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misure distinte, non la stessa analisi: Cuba e Ungheria hanno i residui più positivi del Random Forest; Kenya e Giamaica guidano invece la classifica efficienza/PIL. Una possibile spiegazione — coerente con la letteratura ma non verificabile con i dati disponibili — è la specializzazione in poche discipline ad alta resa (atletica, sprint, pugilato).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971800"/>
            <a:ext cx="55778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126480" y="2971800"/>
            <a:ext cx="64008" cy="3383280"/>
          </a:xfrm>
          <a:prstGeom prst="rect">
            <a:avLst/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27648" y="308152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Under-performer strutturali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27648" y="3392424"/>
            <a:ext cx="519379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Grandi economie come India, Brasile, Egitto.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Vincono meno di quanto il loro PIL e la loro popolazione lascerebbero prevedere. Il residuo negativo segnala una difficoltà strutturale nel convertire le risorse in risultati sportivi — infrastrutture, organizzazione e investimenti nello sport d'élite restano fuori dalle variabili del modello.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Classificazione in Fasce di Successo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task di classificazione alternativo alla regressione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0.834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157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del modello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9184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0.751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291840" y="2157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(classe magg.)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2648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F9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+8.3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126480" y="2157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miglioramento</a:t>
            </a:r>
            <a:endParaRPr lang="en-US" sz="11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7200" y="315468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Distribuzione delle fasce nel dataset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3154680"/>
            <a:ext cx="54864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217920" y="3154680"/>
            <a:ext cx="64008" cy="1508760"/>
          </a:xfrm>
          <a:prstGeom prst="rect">
            <a:avLst/>
          </a:prstGeom>
          <a:solidFill>
            <a:srgbClr val="1C9C8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19088" y="32644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prevede il modello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419088" y="3575304"/>
            <a:ext cx="510235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Invece del numero esatto di medaglie, classifica ogni nazione in una fascia (nessuna / limitato / medio / elevato). Le stesse variabili strutturali predicono bene la categoria di performance.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4800600"/>
            <a:ext cx="54864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  <a:effectLst>
            <a:outerShdw sx="100000" sy="100000" kx="0" ky="0" algn="bl" rotWithShape="0" blurRad="50800" dist="12700" dir="5400000">
              <a:srgbClr val="BBBBBB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6217920" y="4800600"/>
            <a:ext cx="64008" cy="1463040"/>
          </a:xfrm>
          <a:prstGeom prst="rect">
            <a:avLst/>
          </a:prstGeom>
          <a:solidFill>
            <a:srgbClr val="E0A526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419088" y="49103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fallimento istruttivo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419088" y="5221224"/>
            <a:ext cx="51023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primo tentativo di prevedere il tipo di medaglia (oro/argento/bronzo) andava sotto la baseline: le risorse predicono quante medaglie, non di che colore — che dipende da fattori sportivi specifici.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con la Letteratura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786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lavoro nel contesto della ricerca esistente sui determinanti del successo olimpico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86400" cy="228600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64008" cy="2286000"/>
          </a:xfrm>
          <a:prstGeom prst="rect">
            <a:avLst/>
          </a:prstGeom>
          <a:solidFill>
            <a:srgbClr val="1C9C8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2704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 &amp; Busse (2004)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37944"/>
            <a:ext cx="513892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Wins the Olympic Games": trovano PIL e popolazione come driver principali, serve sia massa economica sia demografica. I nostri risultati lo confermano (correlazione ~0.70), ma aggiungiamo le feature di lag — più predittive del PIL stesso — che il loro modello non usa.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86400" cy="228600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64008" cy="2286000"/>
          </a:xfrm>
          <a:prstGeom prst="rect">
            <a:avLst/>
          </a:prstGeom>
          <a:solidFill>
            <a:srgbClr val="3B6EA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52704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su Rio 2016 e Tokyo 2020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1837944"/>
            <a:ext cx="513892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2016 (quantile + Tobit) segnala variabili economiche non significative, coerente col nostro PIL pro capite debole. Tokyo 2020 analizza una sola edizione e i primi 20 Paesi; il nostro dataset copre 1964–2020 con tutte le nazioni.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5486400" cy="228600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886200"/>
            <a:ext cx="64008" cy="228600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9592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analysis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306824"/>
            <a:ext cx="513892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"Economics and the Summer Olympics" misura l'efficienza con cui i Paesi convertono risorse in medaglie. La nostra analisi dei residui è concettualmente vicina: i residui positivi identificano proprio le nazioni più efficienti del previsto.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3886200"/>
            <a:ext cx="5486400" cy="228600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886200"/>
            <a:ext cx="64008" cy="2286000"/>
          </a:xfrm>
          <a:prstGeom prst="rect">
            <a:avLst/>
          </a:prstGeom>
          <a:solidFill>
            <a:srgbClr val="4F9D69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99592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Tobit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4306824"/>
            <a:ext cx="513892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studi citati usano il Tobit (Tobin, 1958) per gestire la natura censurata a zero del medagliere. Noi affrontiamo la stessa difficoltà con la trasformazione logaritmica e il Random Forest; un confronto diretto col Tobit è un naturale sviluppo futuro.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— La Tesi in Tre Livelli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57600" cy="237744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777240" cy="777240"/>
          </a:xfrm>
          <a:prstGeom prst="ellipse">
            <a:avLst/>
          </a:prstGeom>
          <a:solidFill>
            <a:srgbClr val="1C9C8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Potenziale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30449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PIL determina la capacità strutturale di lungo periodo.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417320"/>
            <a:ext cx="3657600" cy="237744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691640"/>
            <a:ext cx="777240" cy="77724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80560" y="2606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Attivazione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480560" y="30449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storico recente (lag) governa la performance nel breve.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657600" cy="2377440"/>
          </a:xfrm>
          <a:prstGeom prst="rect">
            <a:avLst/>
          </a:prstGeom>
          <a:solidFill>
            <a:srgbClr val="1E3050"/>
          </a:solidFill>
          <a:ln w="9525">
            <a:solidFill>
              <a:srgbClr val="2A3E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691640"/>
            <a:ext cx="777240" cy="777240"/>
          </a:xfrm>
          <a:prstGeom prst="ellipse">
            <a:avLst/>
          </a:prstGeom>
          <a:solidFill>
            <a:srgbClr val="4F9D69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75320" y="2606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9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Efficienza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75320" y="30449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residui rivelano dove le scelte fanno la differenza.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11247120" cy="1325880"/>
          </a:xfrm>
          <a:prstGeom prst="rect">
            <a:avLst/>
          </a:prstGeom>
          <a:solidFill>
            <a:srgbClr val="1E3050"/>
          </a:solidFill>
          <a:ln w="12700">
            <a:solidFill>
              <a:srgbClr val="1C9C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976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PIL determina il potenziale strutturale nel lungo periodo. </a:t>
            </a:r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L'inerzia del sistema sportivo governa la performance nel breve. I residui rivelano dove efficienza e scelte fanno la differenza tra realizzare quel potenziale o sprecarlo.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principale dichiarato:  </a:t>
            </a:r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dataset non contiene il numero di atleti partecipanti — la variabile che permetterebbe di calcolare il rendimento per atleta e spiegare i residui positivi. È il naturale sviluppo futuro. Verifiche di robustezza aggiuntive (GroupKFold per nazione, split temporale) confermano che il modello generalizza bene anche su nazioni ed edizioni mai viste in training.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solo Giochi</dc:title>
  <dc:subject>PptxGenJS Presentation</dc:subject>
  <dc:creator>Gruppo 6</dc:creator>
  <cp:lastModifiedBy>Gruppo 6</cp:lastModifiedBy>
  <cp:revision>1</cp:revision>
  <dcterms:created xsi:type="dcterms:W3CDTF">2026-07-05T19:06:29Z</dcterms:created>
  <dcterms:modified xsi:type="dcterms:W3CDTF">2026-07-05T19:06:29Z</dcterms:modified>
</cp:coreProperties>
</file>