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97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8" r:id="rId38"/>
    <p:sldId id="291" r:id="rId39"/>
    <p:sldId id="292" r:id="rId40"/>
    <p:sldId id="293" r:id="rId41"/>
    <p:sldId id="294" r:id="rId42"/>
    <p:sldId id="295" r:id="rId43"/>
    <p:sldId id="296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19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6EEB4-2D54-5307-36C8-DC9E288F9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72F52-C9F7-52E5-8A7F-4E970482F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0C23C-7A38-A5C0-9CE8-C870FE626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08B0F-DC38-5F49-615F-221150E847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51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EF464-5634-315C-874A-162DAF4B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843F6-366A-7D2A-F766-92226115A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88456-2446-A912-0190-14069EAFB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9E4F6-31A4-EDAC-D4F3-D1C423886A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6406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377440"/>
            <a:ext cx="6583680" cy="65836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789920" y="4297680"/>
            <a:ext cx="3657600" cy="36576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DATI OLIMPICI · 1964–2020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delle Olimpiadi Estive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4747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Sport, eventi e nazioni a confronto: pattern, specializzazioni e gerarchie di potere nello sport olimpico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esplorativa con K-Means e clustering gerarchico su dati socioeconomici e sportivi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di sintesi metodologica e dei risultati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troverete in questa presentazione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7465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627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e metodologia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23560" y="15544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Fonti, pulizia, feature engineering e logica generale dell'analisi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50592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77240" y="245059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264261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25237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degli sport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2450592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raggruppano le discipline olimpiche per struttura e competitività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346704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777240" y="334670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353872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40280" y="34198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degli eventi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623560" y="3346704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 livello di singola gara: individuali, di squadra, eventi rari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242816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777240" y="424281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443484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40280" y="4315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dei paesi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4242816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 di performance e specializzazione sportiva delle nazioni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13892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/>
          <p:nvPr/>
        </p:nvSpPr>
        <p:spPr>
          <a:xfrm>
            <a:off x="777240" y="513892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533095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40280" y="5212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e conclusioni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623560" y="5138928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risultati chiave e le direzioni di sviluppo futuro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Dati e Metodologia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abbiamo costruito un dataset coerente a partire da fonti eterogenee, e quale logica abbiamo seguito per arrivare al clustering.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fonti dei dati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9842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Athlete Event Details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storico con atleti, eventi, sport e medaglie di tutte le edizioni olimpiche estive dal 1964 al 2020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55448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9842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060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 socioeconomici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32461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 </a:t>
            </a:r>
            <a:r>
              <a:rPr lang="en-US" sz="1150" dirty="0" err="1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</a:t>
            </a: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socioeconomici</a:t>
            </a: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medaglie</a:t>
            </a: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paese e anno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19842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060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Country Profiles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12480" y="32461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Anagrafica dei paesi con nomi estesi e codici NOC, usata per rendere leggibili i risultati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6177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868680" y="4754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tre dataset sono stati uniti tramite anno, codice NOC e nome del paese, con un'estesa fase di normalizzazione dei nomi (es. “Republic of Korea” → “South Korea”) per allinearli correttamente.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Pulizia e allineamento dei dati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2011680"/>
            <a:ext cx="0" cy="365760"/>
          </a:xfrm>
          <a:prstGeom prst="line">
            <a:avLst/>
          </a:prstGeom>
          <a:noFill/>
          <a:ln w="19050">
            <a:solidFill>
              <a:srgbClr val="D8DCE8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280160" y="14904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edizioni estive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49047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Esclusione delle Olimpiadi invernali per coerenza tematica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0100" y="2880360"/>
            <a:ext cx="0" cy="365760"/>
          </a:xfrm>
          <a:prstGeom prst="line">
            <a:avLst/>
          </a:prstGeom>
          <a:noFill/>
          <a:ln w="19050">
            <a:solidFill>
              <a:srgbClr val="D8DCE8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280160" y="23591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Allineamento temporale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35915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Mantenute solo le edizioni presenti anche nel dataset socioeconomico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0100" y="3749040"/>
            <a:ext cx="0" cy="365760"/>
          </a:xfrm>
          <a:prstGeom prst="line">
            <a:avLst/>
          </a:prstGeom>
          <a:noFill/>
          <a:ln w="19050">
            <a:solidFill>
              <a:srgbClr val="D8DCE8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280160" y="32278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Normalizzazione paesi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22783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Uniformati nomi e codici NOC tra i diversi dataset (es. Corea del Sud/Nord, URSS/Russia)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0100" y="4617720"/>
            <a:ext cx="0" cy="365760"/>
          </a:xfrm>
          <a:prstGeom prst="line">
            <a:avLst/>
          </a:prstGeom>
          <a:noFill/>
          <a:ln w="19050">
            <a:solidFill>
              <a:srgbClr val="D8DCE8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280160" y="40965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 paesi senza medaglie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409651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Esclusi i paesi che non hanno mai vinto una medaglia, per ridurre rumore nel clustering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9651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Deduplicazione sport di squadra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96519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riga per medaglia di squadra, invece di una per ogni atleta del team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metriche costruite per l'analisi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77240" y="18013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9339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6479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(Herfindahl-Hirschman Index)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 la concentrazione delle medaglie tra paesi: vicino a 1 indica dominio di poche nazioni, vicino a 0 indica distribuzione ampia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6400800" y="18013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193395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76479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Efficienza per atleta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46520" y="24688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Rapporto tra medaglie vinte e atleti schierati: distingue squadre numerose da specialisti efficienti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777240" y="37216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385419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8503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Percentuale eventi di squadra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3891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di eventi a squadra in una categoria sportiva, per separare strutture individuali e collettive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52044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6400800" y="37216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88" y="38541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68503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di nazioni partecipanti/vincitrici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46520" y="43891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geografica della competizione e della vittoria in ogni sport o evento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BF4E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/>
          <p:nvPr/>
        </p:nvSpPr>
        <p:spPr>
          <a:xfrm>
            <a:off x="777240" y="56235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le metriche basate sulla popolazione (medaglie pro-capite) sono state escluse per dati incompleti nel dataset </a:t>
            </a:r>
            <a:r>
              <a:rPr lang="en-US" sz="1050" i="1" dirty="0" err="1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socioeconomico</a:t>
            </a:r>
            <a:r>
              <a:rPr lang="en-US" sz="1050" i="1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abbiamo scelto i cluster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79192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26365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0665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24912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26060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feature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315468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correlazioni per evitare ridondanza tra variabili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27832" y="26517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2C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92424" y="1645920"/>
            <a:ext cx="2679192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621024" y="1920240"/>
            <a:ext cx="548640" cy="548640"/>
          </a:xfrm>
          <a:prstGeom prst="ellipse">
            <a:avLst/>
          </a:prstGeom>
          <a:solidFill>
            <a:srgbClr val="26365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06654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6869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93592" y="26060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Standardizzazione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93592" y="315468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delle feature (media 0, deviazione standard 1)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071616" y="26517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2C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36208" y="1645920"/>
            <a:ext cx="2679192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6464808" y="1920240"/>
            <a:ext cx="548640" cy="548640"/>
          </a:xfrm>
          <a:prstGeom prst="ellipse">
            <a:avLst/>
          </a:prstGeom>
          <a:solidFill>
            <a:srgbClr val="26365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206654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37376" y="26060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di K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37376" y="315468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di SSE, BSS e Silhouette score su un range di valori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915400" y="26517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2C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079992" y="1645920"/>
            <a:ext cx="2679192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9308592" y="1920240"/>
            <a:ext cx="548640" cy="548640"/>
          </a:xfrm>
          <a:prstGeom prst="ellipse">
            <a:avLst/>
          </a:prstGeom>
          <a:solidFill>
            <a:srgbClr val="26365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896" y="206654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256264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281160" y="26060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/ Gerarchico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281160" y="315468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con K-Means; gerarchico per i casi con outlier estremi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48640" y="4297680"/>
            <a:ext cx="11091672" cy="1325880"/>
          </a:xfrm>
          <a:prstGeom prst="roundRect">
            <a:avLst>
              <a:gd name="adj" fmla="val 4828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553712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325880" y="443484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scelta di K combina sempre tre segnali: il punto di gomito nella curva SSE (within-cluster), la corrispondente crescita nella curva BSS (between-cluster), e il picco nel punteggio di Silhouette — evitando di affidarsi a un solo indicatore.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DELL'ANALISI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livelli di granularità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1396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Atletica, Nuoto, Judo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aggregato di ogni categoria sportiva nel tempo: diffusione, competitività, struttura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617720" y="1965960"/>
            <a:ext cx="685800" cy="685800"/>
          </a:xfrm>
          <a:prstGeom prst="ellipse">
            <a:avLst/>
          </a:prstGeom>
          <a:solidFill>
            <a:srgbClr val="C9962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3969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Eventi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17720" y="3246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100m piani, Doppio misto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17720" y="36576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di ogni singola gara: dimensione, tipo (individuale/squadra), storia dei vincitori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8412480" y="196596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2139696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Paesi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412480" y="3246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USA, Kenya, Giappone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412480" y="36576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di performance e specializzazione sportiva di ogni nazione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degli Sport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raggruppano le discipline olimpiche in base a diffusione, competitività ed efficienza dei vincitori.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·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variabili usate per il clustering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399032"/>
            <a:ext cx="5248656" cy="4700016"/>
          </a:xfrm>
          <a:prstGeom prst="roundRect">
            <a:avLst>
              <a:gd name="adj" fmla="val 973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corr_sport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95" y="1508760"/>
            <a:ext cx="501369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di correlazione completa: identificate le coppie ridondanti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943600" y="1600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 finali selezionate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0" y="2103120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172200" y="2103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n_nations_mean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2670048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172200" y="26700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athletes_per_event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0" y="3236976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172200" y="323697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hhi_gold_mean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3803904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172200" y="380390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mean_gold_per_athletes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0" y="4370832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172200" y="437083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pct_team_events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0" y="50292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Escluse per ridondanza: n_nations_max (corr. 0.98 con n_nations_mean), hhi_total_mean (corr. 0.90 con hhi_gold_mean), n_editions (variabile di controllo, non discriminante).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· SCELTA DI 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Determinazione del numero ottimale di cluster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13232" y="1444752"/>
            <a:ext cx="10735056" cy="4425696"/>
          </a:xfrm>
          <a:prstGeom prst="roundRect">
            <a:avLst>
              <a:gd name="adj" fmla="val 1033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sse_bss_silh_s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46" y="1554480"/>
            <a:ext cx="6751228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SSE, BSS e Silhouette score per K compreso tra 2 e 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0" y="41605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8229600" y="4279392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5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366760" y="48646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Gomito SSE/BSS + picco Silhouette (≈ 0.39)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· RISULTATI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Cinque profili di disciplina sportiva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212848" cy="3017520"/>
          </a:xfrm>
          <a:prstGeom prst="roundRect">
            <a:avLst>
              <a:gd name="adj" fmla="val 289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21792" y="1993392"/>
            <a:ext cx="201168" cy="201168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359152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Poche nazioni, HHI alto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Efficienza per atleta massima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Equitazione, Tuffi, Tiro con l'arco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1828800"/>
            <a:ext cx="2212848" cy="3017520"/>
          </a:xfrm>
          <a:prstGeom prst="roundRect">
            <a:avLst>
              <a:gd name="adj" fmla="val 289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2953512" y="1993392"/>
            <a:ext cx="201168" cy="201168"/>
          </a:xfrm>
          <a:prstGeom prst="ellipse">
            <a:avLst/>
          </a:prstGeom>
          <a:solidFill>
            <a:srgbClr val="F5851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246120" y="193852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di squadra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0088" y="2359152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Pochissime nazioni partecipanti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Massima concentrazione (HHI)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Calcio, Basket, Pallavolo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1828800"/>
            <a:ext cx="2212848" cy="3017520"/>
          </a:xfrm>
          <a:prstGeom prst="roundRect">
            <a:avLst>
              <a:gd name="adj" fmla="val 289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285232" y="1993392"/>
            <a:ext cx="201168" cy="201168"/>
          </a:xfrm>
          <a:prstGeom prst="ellipse">
            <a:avLst/>
          </a:prstGeom>
          <a:solidFill>
            <a:srgbClr val="E457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577840" y="193852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Giganti olimpici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21808" y="2359152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Centinaia di nazioni partecipanti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minimo, massima apertura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Atletica, Nuoto, Tiro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52360" y="1828800"/>
            <a:ext cx="2212848" cy="3017520"/>
          </a:xfrm>
          <a:prstGeom prst="roundRect">
            <a:avLst>
              <a:gd name="adj" fmla="val 289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7616952" y="1993392"/>
            <a:ext cx="201168" cy="201168"/>
          </a:xfrm>
          <a:prstGeom prst="ellipse">
            <a:avLst/>
          </a:prstGeom>
          <a:solidFill>
            <a:srgbClr val="B279A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909560" y="193852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di media diffusione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53528" y="2359152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nella norma su tutto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Massima eterogeneità interna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Scherma, Judo, Canottaggio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84080" y="1828800"/>
            <a:ext cx="2212848" cy="3017520"/>
          </a:xfrm>
          <a:prstGeom prst="roundRect">
            <a:avLst>
              <a:gd name="adj" fmla="val 289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948672" y="1993392"/>
            <a:ext cx="201168" cy="201168"/>
          </a:xfrm>
          <a:prstGeom prst="ellipse">
            <a:avLst/>
          </a:prstGeom>
          <a:solidFill>
            <a:srgbClr val="54A24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0168128" y="196787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ad alto volume di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partecipanti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985248" y="2359152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atleti per evento in assoluto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Ginnastica, Ciclismo su strada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Triathlon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· CENTROIDI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Profilo standardizzato dei 5 cluster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78992" y="1444752"/>
            <a:ext cx="10003536" cy="4379976"/>
          </a:xfrm>
          <a:prstGeom prst="roundRect">
            <a:avLst>
              <a:gd name="adj" fmla="val 1044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1188720" y="576072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standardizzati (z-score) dei centroidi per ciascuna feature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CB2011A-E83E-59A8-86A3-20296EEF1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772" y="1733462"/>
            <a:ext cx="6964689" cy="39066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· VISUALIZZAZIONE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Proiezione PCA dei cluster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399032"/>
            <a:ext cx="5980176" cy="4700016"/>
          </a:xfrm>
          <a:prstGeom prst="roundRect">
            <a:avLst>
              <a:gd name="adj" fmla="val 973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pca_s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926"/>
            <a:ext cx="5760720" cy="41682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due componenti principali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58368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Separazione ben definita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0" y="219456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cluster “giganti olimpici” (rosso) e “sport di squadra” (arancione) sono i più isolati e riconoscibili nello spazio delle componenti principali.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cluster “</a:t>
            </a:r>
            <a:r>
              <a:rPr lang="en-US" sz="1250" dirty="0" err="1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tecnici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”, “di media diffusione” e “ad alto volume” si sovrappongono parzialmente, riflettendo una maggiore eterogeneità interna.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· ANALISI TEMPORALE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L'evoluzione dei cluster dal 1964 al 2020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47472" y="1399032"/>
            <a:ext cx="11466576" cy="4379976"/>
          </a:xfrm>
          <a:prstGeom prst="roundRect">
            <a:avLst>
              <a:gd name="adj" fmla="val 1044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trend_spor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86484"/>
            <a:ext cx="11247120" cy="4005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Nazioni partecipanti e concentrazione degli ori (HHI) nel tempo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5989320"/>
            <a:ext cx="137160" cy="137160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749808" y="59115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Tecnici nicchia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88920" y="5989320"/>
            <a:ext cx="137160" cy="137160"/>
          </a:xfrm>
          <a:prstGeom prst="ellipse">
            <a:avLst/>
          </a:prstGeom>
          <a:solidFill>
            <a:srgbClr val="F5851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2990088" y="59115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Squadra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0" y="5989320"/>
            <a:ext cx="137160" cy="137160"/>
          </a:xfrm>
          <a:prstGeom prst="ellipse">
            <a:avLst/>
          </a:prstGeom>
          <a:solidFill>
            <a:srgbClr val="E457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230368" y="59115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Giganti olimpici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269480" y="5989320"/>
            <a:ext cx="137160" cy="137160"/>
          </a:xfrm>
          <a:prstGeom prst="ellipse">
            <a:avLst/>
          </a:prstGeom>
          <a:solidFill>
            <a:srgbClr val="B279A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7470648" y="59115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diff.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509760" y="5989320"/>
            <a:ext cx="137160" cy="137160"/>
          </a:xfrm>
          <a:prstGeom prst="ellipse">
            <a:avLst/>
          </a:prstGeom>
          <a:solidFill>
            <a:srgbClr val="54A24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9710928" y="59115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volume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· ANALISI TEMPORALE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Efficienza e dimensione degli eventi nel tempo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47472" y="1353312"/>
            <a:ext cx="11466576" cy="4105656"/>
          </a:xfrm>
          <a:prstGeom prst="roundRect">
            <a:avLst>
              <a:gd name="adj" fmla="val 1114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trend_spo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351" y="1463040"/>
            <a:ext cx="9892817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1500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77240" y="57150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boicottaggio di Mosca 1980 lascia traccia su quasi tutti i cluster: calo nelle nazioni partecipanti e instabilità marcata negli “eventi ad alto volume”.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ADA90-AEE3-5945-DD9E-29E3090BC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D6735F-DF50-C703-10C6-C89670177871}"/>
              </a:ext>
            </a:extLst>
          </p:cNvPr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· GRAFICI INTERATTIVI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3264AA-F2DF-C298-E6B3-FFDFDB0D111A}"/>
              </a:ext>
            </a:extLst>
          </p:cNvPr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Grafici</a:t>
            </a: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interattivi</a:t>
            </a: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</a:t>
            </a: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notebook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DBA9547-4F81-0F24-9772-77B7A2C62CBF}"/>
              </a:ext>
            </a:extLst>
          </p:cNvPr>
          <p:cNvSpPr/>
          <p:nvPr/>
        </p:nvSpPr>
        <p:spPr>
          <a:xfrm>
            <a:off x="347472" y="1353312"/>
            <a:ext cx="11466576" cy="4105656"/>
          </a:xfrm>
          <a:prstGeom prst="roundRect">
            <a:avLst>
              <a:gd name="adj" fmla="val 1114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86166A3-1F22-D8B3-846D-B284B801D628}"/>
              </a:ext>
            </a:extLst>
          </p:cNvPr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A43F22-A149-2BC9-7E68-18E84FD8BEF1}"/>
              </a:ext>
            </a:extLst>
          </p:cNvPr>
          <p:cNvSpPr txBox="1"/>
          <p:nvPr/>
        </p:nvSpPr>
        <p:spPr>
          <a:xfrm>
            <a:off x="1935125" y="2779563"/>
            <a:ext cx="7666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latin typeface="Cambria" panose="02040503050406030204" pitchFamily="18" charset="0"/>
                <a:ea typeface="Cambria" panose="02040503050406030204" pitchFamily="18" charset="0"/>
              </a:rPr>
              <a:t>Due tipologie di grafici interattivi per vedere i 5 top paesi per medaglie d’oro e per medaglie totali in ogni sport nel corso del tempo.</a:t>
            </a: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4640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CHIAVE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sport olimpico si articola lungo due assi: diffusione e concentrazione del successo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288036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sport non si distinguono solo per popolarità, ma per il modo in cui il successo si distribuisce tra le nazioni: alcuni premiano la specializzazione di pochi paesi (HHI alto), altri sono arene aperte a tutto il mondo (HHI basso). Questa dualità è la chiave di lettura più ricorrente in tutta l'analisi.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degli Eventi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Scendendo al livello della singola gara: come si raggruppano le oltre 300 prove olimpiche per struttura e storia dei vincitori.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 ·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variabili usate per il clustering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399032"/>
            <a:ext cx="5248656" cy="4700016"/>
          </a:xfrm>
          <a:prstGeom prst="roundRect">
            <a:avLst>
              <a:gd name="adj" fmla="val 973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corr_event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3" y="1508760"/>
            <a:ext cx="5025033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di correlazione completa per gli eventi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943600" y="1600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 finali selezionate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0" y="2103120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172200" y="2103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is_team_event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2670048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172200" y="26700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n_nations_mean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0" y="3236976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172200" y="323697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gold_per_athlete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3803904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172200" y="380390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hhi_gold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0" y="4370832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172200" y="437083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n_nations_with_gold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0" y="507492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Esclusa n_athletes_mean per alta correlazione (0.78) con n_nations_mean. L'HHI a livello evento+anno è stato escluso dal trend temporale: in una singola gara c'è sempre un solo oro, quindi sarebbe sempre 1.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13232" y="1444752"/>
            <a:ext cx="10735056" cy="4425696"/>
          </a:xfrm>
          <a:prstGeom prst="roundRect">
            <a:avLst>
              <a:gd name="adj" fmla="val 1033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87DD2528-D376-852D-6F75-43CB4B1BC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362" y="1595385"/>
            <a:ext cx="6624085" cy="412443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 · SCELTA DI 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Determinazione del numero ottimale di cluster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SSE, BSS e Silhouette score per K compreso tra 2 e 19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0" y="41605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8229600" y="4279392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366760" y="48646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Gomito SSE/BSS netto; Silhouette miglior picco locale dopo K=2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6227064" y="182880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 · RISULTATI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profili di evento sportivo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13232" y="1993392"/>
            <a:ext cx="201168" cy="201168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05840" y="19385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 standard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23134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più grande e variegato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caratteristica estrema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Atletica, nuoto, scherma, lotta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8708" y="182880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575304" y="1993392"/>
            <a:ext cx="201168" cy="201168"/>
          </a:xfrm>
          <a:prstGeom prst="ellipse">
            <a:avLst/>
          </a:prstGeom>
          <a:solidFill>
            <a:srgbClr val="F5851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684264" y="1920559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Squadra classici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86500" y="2377599"/>
            <a:ext cx="23134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is_team_event alto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Poche nazioni e atleti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Staffette, doppi, calcio, hockey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37376" y="1993392"/>
            <a:ext cx="201168" cy="201168"/>
          </a:xfrm>
          <a:prstGeom prst="ellipse">
            <a:avLst/>
          </a:prstGeom>
          <a:solidFill>
            <a:srgbClr val="E457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867912" y="19385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305990"/>
            <a:ext cx="23134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nazioni e atleti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Massima visibilità mediatica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100m, maratona, nuoto stile libero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34856" y="182880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9299448" y="1993392"/>
            <a:ext cx="201168" cy="201168"/>
          </a:xfrm>
          <a:prstGeom prst="ellipse">
            <a:avLst/>
          </a:prstGeom>
          <a:solidFill>
            <a:srgbClr val="B279A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592056" y="19385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36024" y="2359152"/>
            <a:ext cx="23134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Poche edizioni storiche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n_nations_with_gold bassissimo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Softball, alcune categorie di lotta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 · CENTROIDI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Profilo standardizzato dei 4 cluster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78992" y="1444752"/>
            <a:ext cx="10003536" cy="4379976"/>
          </a:xfrm>
          <a:prstGeom prst="roundRect">
            <a:avLst>
              <a:gd name="adj" fmla="val 1044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coord_parallel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560" y="1554480"/>
            <a:ext cx="786240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76072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standardizzati (z-score) dei centroidi per ciascuna feature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 · VISUALIZZAZIONE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Proiezione PCA dei cluster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399032"/>
            <a:ext cx="5980176" cy="4700016"/>
          </a:xfrm>
          <a:prstGeom prst="roundRect">
            <a:avLst>
              <a:gd name="adj" fmla="val 973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pca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9519"/>
            <a:ext cx="5760720" cy="42190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due componenti principali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583680" y="1691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Squadra vs individuale: la separazione più forte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cluster “squadra classici” (arancione) è nettamente isolato dal resto: la struttura individuale/squadra resta la dimensione più forte nei dati.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cluster “eventi rari” (viola) è disperso e meno coeso, segno di forte eterogeneità tra eventi con poche edizioni storiche.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 · ANALISI TEMPORALE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L'evoluzione dei cluster nel tempo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47472" y="1399032"/>
            <a:ext cx="6620256" cy="4379976"/>
          </a:xfrm>
          <a:prstGeom prst="roundRect">
            <a:avLst>
              <a:gd name="adj" fmla="val 1044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trend_even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2958"/>
            <a:ext cx="6400800" cy="26521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715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Nazioni partecipanti ed efficienza ori/atleta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068312" y="1399032"/>
            <a:ext cx="4745736" cy="4379976"/>
          </a:xfrm>
          <a:prstGeom prst="roundRect">
            <a:avLst>
              <a:gd name="adj" fmla="val 1044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8" name="Image 1" descr="/home/claude/work/trend_even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021222"/>
            <a:ext cx="4526280" cy="31355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78040" y="57150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Atleti per evento nel tempo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CHIAVE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struttura individuale/squadra domina sulla disciplina sportiva di appartenenza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288036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eventi dello stesso sport (es. 100m piani individuali e 4x100m a staffetta) possono finire in cluster completamente diversi: è la natura individuale o di squadra dell'evento, non lo sport in sé, a determinarne il profilo competitivo.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dei Paesi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singolo evento alla nazione: come si raggruppano i paesi per volume di successo, efficienza e specializzazione sportiva.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·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variabili usate per il clustering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399032"/>
            <a:ext cx="5248656" cy="4700016"/>
          </a:xfrm>
          <a:prstGeom prst="roundRect">
            <a:avLst>
              <a:gd name="adj" fmla="val 973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di correlazione sulle feature finali selezionate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943600" y="1600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 finali selezionate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0" y="2103120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172200" y="2103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total_medals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2670048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172200" y="26700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n_sports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0" y="3236976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172200" y="323697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gold_ratio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3803904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172200" y="380390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gold_per_athlete_mean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0" y="4370832"/>
            <a:ext cx="5669280" cy="4572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172200" y="437083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n_editions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0" y="507492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Mantenuti solo i paesi con almeno 10 medaglie totali nella storia olimpica, per garantire dati sufficientemente robusti.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1312C71C-1DA9-DE02-1CAE-8929DB9C6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18" y="1487786"/>
            <a:ext cx="5133622" cy="45825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13232" y="1444752"/>
            <a:ext cx="10735056" cy="4425696"/>
          </a:xfrm>
          <a:prstGeom prst="roundRect">
            <a:avLst>
              <a:gd name="adj" fmla="val 1033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DFAFEB5-E863-1F3E-BA6C-8E8A5F66A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714" y="1496913"/>
            <a:ext cx="6733551" cy="419522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· SCELTA DI 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Determinazione del numero ottimale di cluster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SSE, BSS e Silhouette score per K compreso tra 2 e 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0" y="41605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8229600" y="4279392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6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366760" y="48646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Gomito SSE/BSS; miglior picco Silhouette dopo K=2 (≈ 0.30)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· RISULTATI K-MEANS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 profili di performance nazionale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6072" y="1947672"/>
            <a:ext cx="201168" cy="201168"/>
          </a:xfrm>
          <a:prstGeom prst="ellipse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68680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Stati Uniti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assoluto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Massimo volume e diversificazione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 sé stante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4288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2468880" y="1947672"/>
            <a:ext cx="201168" cy="201168"/>
          </a:xfrm>
          <a:prstGeom prst="ellipse">
            <a:avLst/>
          </a:prstGeom>
          <a:solidFill>
            <a:srgbClr val="F5851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761488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Giganti dalla storia discontinua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05456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Massima efficienza per atleta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Storia di partecipazione breve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URSS, Germania Est, Cina, Russia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97096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361688" y="1947672"/>
            <a:ext cx="201168" cy="201168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654296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repubbliche sovietiche/jugoslave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98264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Poche edizioni disponibili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medio-basse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Germania Ovest, Sudafrica, N.Korea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254496" y="1947672"/>
            <a:ext cx="201168" cy="201168"/>
          </a:xfrm>
          <a:prstGeom prst="ellipse">
            <a:avLst/>
          </a:prstGeom>
          <a:solidFill>
            <a:srgbClr val="E457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547104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Specialisti efficienti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Pochi sport, alta quota di ori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Massima specializzazione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Kenya, Etiopia, Giamaica, Marocco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82712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147304" y="1947672"/>
            <a:ext cx="201168" cy="201168"/>
          </a:xfrm>
          <a:prstGeom prst="ellipse">
            <a:avLst/>
          </a:prstGeom>
          <a:solidFill>
            <a:srgbClr val="B279A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439912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 poco performanti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83880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 medaglie più basso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Prevalenza argenti/bronzi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Indonesia, Nigeria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75520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10040112" y="1947672"/>
            <a:ext cx="201168" cy="201168"/>
          </a:xfrm>
          <a:prstGeom prst="ellipse">
            <a:avLst/>
          </a:prstGeom>
          <a:solidFill>
            <a:srgbClr val="EECA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0332720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Potenze consolidate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76688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più numeroso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Tradizione olimpica solida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Italia, Francia, GB, Giappone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· CENTROIDI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Profilo standardizzato dei 6 cluster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78992" y="1444752"/>
            <a:ext cx="10003536" cy="4379976"/>
          </a:xfrm>
          <a:prstGeom prst="roundRect">
            <a:avLst>
              <a:gd name="adj" fmla="val 1044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coord_parallel_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262" y="1554480"/>
            <a:ext cx="7874995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76072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standardizzati (z-score) dei centroidi per ciascuna feature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· VISUALIZZAZIONE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Proiezione PCA dei cluster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399032"/>
            <a:ext cx="5980176" cy="4700016"/>
          </a:xfrm>
          <a:prstGeom prst="roundRect">
            <a:avLst>
              <a:gd name="adj" fmla="val 973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pca_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50" y="1508760"/>
            <a:ext cx="5531701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due componenti principali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583680" y="1691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USA come outlier assoluto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0" y="22402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Stati Uniti si isolano completamente in alto a destra: nessun altro paese si avvicina per volume e diversificazione di successo.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ex repubbliche sovietiche/jugoslave (blu) formano una nuvola compatta, mentre le potenze consolidate (giallo) si distribuiscono più in verticale, riflettendo eterogeneità di livello.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· APPROFONDIMENTO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caso Cina: perché nel cluster “giganti discontinui”?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Cina ha 10 edizioni olimpiche disputate — un valore intermedio, non bassissimo come URSS o Germania Est (1–2 edizioni).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comunque assegnata al cluster perché le altre 4 feature (volume medaglie, efficienza per atleta, gold ratio) sono così dominanti e simili alle altre superpotenze da “trascinarla” in quel gruppo.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Cina è rimasta assente dalle Olimpiadi per decenni nel XX secolo per ragioni politiche, rientrando stabilmente solo nel 1984 — spiegando la sua storia di partecipazione comunque più breve della media.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160020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 metodologica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17920" y="242316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K-Means assegna il cluster in base alla combinazione di tutte le feature, non a una sola. Un'unica variabile estrema o intermedia non garantisce da sola l'appartenenza intuitiva a un gruppo: vale sempre la pena verificare i valori individuali quando un risultato sorprende.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· SPECIALIZZAZIONE SPORTIVA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secondo clustering: in cosa eccelle ogni paese?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Oltre al volume di successo, abbiamo analizzato il profilo di specializzazione sportiva di ogni paese: in quali discipline vince, indipendentemente da quanto domina.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6700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127248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il gerarchico?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611880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K-Means su dati di efficienza isolava USA e Cina come cluster da 1 elemento ciascuno — un segnale di outlier estremi, non di vero pattern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242316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67004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432" y="3127248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Distanza di Jaccard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99432" y="3611880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binaria (1 = il paese ha vinto almeno un oro in quello sport): più robusta agli outlier, cattura il pattern di specializzazione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242316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67004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94192" y="3127248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cluster dal dendrogramma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394192" y="3611880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Taglio dell'albero a una distanza che produce un livello di dettaglio comparabile al K-Means precedente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· CLUSTERING GERARCHICO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dendrogramma di specializzazione sportiva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47472" y="1399032"/>
            <a:ext cx="11466576" cy="4379976"/>
          </a:xfrm>
          <a:prstGeom prst="roundRect">
            <a:avLst>
              <a:gd name="adj" fmla="val 1044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dendrogram_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11" y="1508760"/>
            <a:ext cx="10480297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Ward, distanza di Jaccard su presenza/assenza di vittorie per sport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· SPECIALIZZAZIONE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 profili di specializzazione sportiva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6072" y="1947672"/>
            <a:ext cx="201168" cy="201168"/>
          </a:xfrm>
          <a:prstGeom prst="ellipse">
            <a:avLst/>
          </a:prstGeom>
          <a:solidFill>
            <a:srgbClr val="F5851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68680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Specialisti di Atletica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Atletica al 100%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Algeria, Kenya, Giamaica, Etiopia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Massima specializzazione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4288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2468880" y="1947672"/>
            <a:ext cx="201168" cy="201168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761488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Potenze multidisciplinari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05456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 onnipresenti (88-94%)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URSS, Germania Est, Cina, Cuba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Eredità Guerra Fredda olimpica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97096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361688" y="1947672"/>
            <a:ext cx="201168" cy="201168"/>
          </a:xfrm>
          <a:prstGeom prst="ellipse">
            <a:avLst/>
          </a:prstGeom>
          <a:solidFill>
            <a:srgbClr val="E457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654296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Piccole-medie tradizioni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98264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Atletica e Tiro al 100%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Bielorussia, Finlandia, Cechia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Diversificazione minore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254496" y="1947672"/>
            <a:ext cx="201168" cy="201168"/>
          </a:xfrm>
          <a:prstGeom prst="ellipse">
            <a:avLst/>
          </a:prstGeom>
          <a:solidFill>
            <a:srgbClr val="B279A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547104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Potenze tecniche diversificate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Ciclismo, Vela, Nuoto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Italia, Francia, GB, USA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Economie sviluppate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82712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147304" y="1947672"/>
            <a:ext cx="201168" cy="201168"/>
          </a:xfrm>
          <a:prstGeom prst="ellipse">
            <a:avLst/>
          </a:prstGeom>
          <a:solidFill>
            <a:srgbClr val="54A24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439912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Specialisti combattimento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83880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Lotta all'82%, Judo, Taekwondo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Armenia, Iran, Mongolia, Georgia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Centrale e Caucaso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75520" y="1783080"/>
            <a:ext cx="1801368" cy="3337560"/>
          </a:xfrm>
          <a:prstGeom prst="roundRect">
            <a:avLst>
              <a:gd name="adj" fmla="val 3553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10040112" y="1947672"/>
            <a:ext cx="201168" cy="201168"/>
          </a:xfrm>
          <a:prstGeom prst="ellipse">
            <a:avLst/>
          </a:prstGeom>
          <a:solidFill>
            <a:srgbClr val="EECA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0332720" y="189280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eterogeneo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76688" y="2313432"/>
            <a:ext cx="1417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Atletica e Nuoto al 50%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Messico, Israele, Indonesia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specializzazione netta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799DA-29E0-1A57-4514-ED71AC9C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F2C8EA-BBE0-B6A2-9BD8-4044CB90AAEF}"/>
              </a:ext>
            </a:extLst>
          </p:cNvPr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C996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SPORT · GRAFICI INTERATTIVI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C29D3A-AE95-2F62-E49C-0034A16F57DF}"/>
              </a:ext>
            </a:extLst>
          </p:cNvPr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Grafici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interattivi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su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notebook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FE0277-3BA5-BBBD-3233-351BC86E62E1}"/>
              </a:ext>
            </a:extLst>
          </p:cNvPr>
          <p:cNvSpPr/>
          <p:nvPr/>
        </p:nvSpPr>
        <p:spPr>
          <a:xfrm>
            <a:off x="347472" y="1353312"/>
            <a:ext cx="11466576" cy="4105656"/>
          </a:xfrm>
          <a:prstGeom prst="roundRect">
            <a:avLst>
              <a:gd name="adj" fmla="val 1114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9C043FA-0EC3-8103-1762-D0C8186F113A}"/>
              </a:ext>
            </a:extLst>
          </p:cNvPr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46FE0C0-21DC-AC8F-DAD0-37D08AAE2FF9}"/>
              </a:ext>
            </a:extLst>
          </p:cNvPr>
          <p:cNvSpPr txBox="1"/>
          <p:nvPr/>
        </p:nvSpPr>
        <p:spPr>
          <a:xfrm>
            <a:off x="1935125" y="2779563"/>
            <a:ext cx="7666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i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</a:t>
            </a:r>
            <a:r>
              <a:rPr kumimoji="0" lang="it-IT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rafici</a:t>
            </a: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interattivi per visualizzare, per ogni Paese, i 5 top sport in cui il paese ha preso più medaglie d’oro e più medaglie totali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1409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CHIAVE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di successo e specializzazione sportiva sono due dimensioni indipendenti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2880360"/>
            <a:ext cx="8961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paese può essere una superpotenza diversificata (USA, ex-URSS) oppure uno specialista efficientissimo in pochi sport (Kenya nell'atletica, Armenia nella lotta): non esiste un'unica scala di “grandezza olimpica”, ma traiettorie di successo radicalmente diverse legate a storia, geografia e cultura sportiva.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Sintesi e Conclusioni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risultati chiave dell'analisi e le direzioni di sviluppo futuro.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numeri dell'analisi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243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analisi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(sport, eventi, paesi)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0712" y="17373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410712" y="19659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5+4+6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10712" y="26243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identificati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 tre livelli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2784" y="17373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272784" y="19659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72784" y="26243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ingegnerizzate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dataset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34856" y="17373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134856" y="196596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1964–2020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34856" y="26243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storico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analizzato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68680" y="40416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prospettive complementari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4348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L'analisi a tre livelli (sport, evento, paese) non è ridondante: ogni livello risponde a una domanda diversa. Lo sport racconta la struttura competitiva di una disciplina; l'evento isola l'effetto della modalità individuale/squadra; il paese rivela le traiettorie storiche e le specializzazioni nazionali.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CHIAVE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pattern trasversali emersi dall'analisi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Diffusione vs concentrazione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tutti e tre i livelli, la tensione tra apertura globale (molte nazioni, HHI basso) e dominio di pochi (HHI alto) è il principale asse di differenziazione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43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Squadra batte disciplina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34290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natura individuale o di squadra di un evento conta più dello sport di appartenenza nel determinarne il profilo competitivo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EEF1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21214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43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Più strade per il successo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34290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esiste un solo modello di “potenza olimpica”: dominio diversificato (USA), efficienza intensiva (blocco ex-sovietico) e specializzazione di nicchia (Kenya, Armenia) sono tutte strategie vincenti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E SVILUPPI FUTURI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può essere migliorato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C996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di popolazione incompleti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12080" y="16916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Combinazioni</a:t>
            </a: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anno-paese senza dato di popolazione nel dataset </a:t>
            </a:r>
            <a:r>
              <a:rPr lang="en-US" sz="1150" dirty="0" err="1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socioeconomico</a:t>
            </a: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le metriche pro-capite sono in attesa di una versione corretta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77240" y="2907792"/>
            <a:ext cx="457200" cy="457200"/>
          </a:xfrm>
          <a:prstGeom prst="ellipse">
            <a:avLst/>
          </a:prstGeom>
          <a:solidFill>
            <a:srgbClr val="C996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7724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77063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 agli outlier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12080" y="2770632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 Cina richiedono spesso un trattamento separato (esclusione o metodi più robusti) per non distorcere il clustering K-Means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777240" y="3986784"/>
            <a:ext cx="457200" cy="457200"/>
          </a:xfrm>
          <a:prstGeom prst="ellipse">
            <a:avLst/>
          </a:prstGeom>
          <a:solidFill>
            <a:srgbClr val="C996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77240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849624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esterna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12080" y="3849624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cluster sono stati interpretati qualitativamente; un prossimo passo utile sarebbe validarli con indicatori esterni (es. PIL, investimenti sportivi)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0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e discussione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2777</Words>
  <Application>Microsoft Office PowerPoint</Application>
  <PresentationFormat>Widescreen</PresentationFormat>
  <Paragraphs>442</Paragraphs>
  <Slides>43</Slides>
  <Notes>43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43</vt:i4>
      </vt:variant>
    </vt:vector>
  </HeadingPairs>
  <TitlesOfParts>
    <vt:vector size="49" baseType="lpstr">
      <vt:lpstr>Aptos</vt:lpstr>
      <vt:lpstr>Arial</vt:lpstr>
      <vt:lpstr>Calibri</vt:lpstr>
      <vt:lpstr>Cambria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delle Olimpiadi: Sport, Eventi e Paesi</dc:title>
  <dc:subject>PptxGenJS Presentation</dc:subject>
  <dc:creator>Analisi Olimpiadi</dc:creator>
  <cp:lastModifiedBy>Santina Capalbo</cp:lastModifiedBy>
  <cp:revision>2</cp:revision>
  <dcterms:created xsi:type="dcterms:W3CDTF">2026-06-30T13:03:45Z</dcterms:created>
  <dcterms:modified xsi:type="dcterms:W3CDTF">2026-06-30T13:54:16Z</dcterms:modified>
</cp:coreProperties>
</file>