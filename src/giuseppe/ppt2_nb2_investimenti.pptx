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-474" y="-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Correlazione r × 100 — spesa élite reale vs PIL come proxy del successo olimpico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Tokyo 2020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log(Spesa élite)</c:v>
                </c:pt>
                <c:pt idx="1">
                  <c:v>log(PIL totale) — NB1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E-4FB1-974F-32E82AEAD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Paris 2024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log(Spesa élite)</c:v>
                </c:pt>
                <c:pt idx="1">
                  <c:v>log(PIL totale) — NB1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E-4FB1-974F-32E82AEAD3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Investimento UK Sport per ciclo (£M)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 (£M)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Sydney
2000</c:v>
                </c:pt>
                <c:pt idx="1">
                  <c:v>Athens
2004</c:v>
                </c:pt>
                <c:pt idx="2">
                  <c:v>Beijing
2008</c:v>
                </c:pt>
                <c:pt idx="3">
                  <c:v>London
2012</c:v>
                </c:pt>
                <c:pt idx="4">
                  <c:v>Rio
2016</c:v>
                </c:pt>
                <c:pt idx="5">
                  <c:v>Tokyo
2020</c:v>
                </c:pt>
                <c:pt idx="6">
                  <c:v>Paris
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58.9</c:v>
                </c:pt>
                <c:pt idx="1">
                  <c:v>71</c:v>
                </c:pt>
                <c:pt idx="2">
                  <c:v>235</c:v>
                </c:pt>
                <c:pt idx="3">
                  <c:v>264</c:v>
                </c:pt>
                <c:pt idx="4">
                  <c:v>274</c:v>
                </c:pt>
                <c:pt idx="5">
                  <c:v>331</c:v>
                </c:pt>
                <c:pt idx="6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A-4FA5-9AD7-41A1A43868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Medaglie olimpiche GB per ciclo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Medaglie GB</c:v>
                </c:pt>
              </c:strCache>
            </c:strRef>
          </c:tx>
          <c:spPr>
            <a:ln w="444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Sydney
2000</c:v>
                </c:pt>
                <c:pt idx="1">
                  <c:v>Athens
2004</c:v>
                </c:pt>
                <c:pt idx="2">
                  <c:v>Beijing
2008</c:v>
                </c:pt>
                <c:pt idx="3">
                  <c:v>London
2012</c:v>
                </c:pt>
                <c:pt idx="4">
                  <c:v>Rio
2016</c:v>
                </c:pt>
                <c:pt idx="5">
                  <c:v>Tokyo
2020</c:v>
                </c:pt>
                <c:pt idx="6">
                  <c:v>Paris
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30</c:v>
                </c:pt>
                <c:pt idx="2">
                  <c:v>47</c:v>
                </c:pt>
                <c:pt idx="3">
                  <c:v>65</c:v>
                </c:pt>
                <c:pt idx="4">
                  <c:v>67</c:v>
                </c:pt>
                <c:pt idx="5">
                  <c:v>65</c:v>
                </c:pt>
                <c:pt idx="6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B7-46FE-B882-07A6B32AC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€M spesi per ogni medaglia olimpica — Tokyo 2020 (SPLISS 14 nazioni)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€M / medaglia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Belgio</c:v>
                </c:pt>
                <c:pt idx="1">
                  <c:v>Danimarca</c:v>
                </c:pt>
                <c:pt idx="2">
                  <c:v>Olanda</c:v>
                </c:pt>
                <c:pt idx="3">
                  <c:v>Francia</c:v>
                </c:pt>
                <c:pt idx="4">
                  <c:v>Germania</c:v>
                </c:pt>
                <c:pt idx="5">
                  <c:v>Australia</c:v>
                </c:pt>
                <c:pt idx="6">
                  <c:v>Gran Bretagna</c:v>
                </c:pt>
                <c:pt idx="7">
                  <c:v>Canada</c:v>
                </c:pt>
                <c:pt idx="8">
                  <c:v>Corea del Sud</c:v>
                </c:pt>
                <c:pt idx="9">
                  <c:v>Brasile</c:v>
                </c:pt>
                <c:pt idx="10">
                  <c:v>Polonia</c:v>
                </c:pt>
                <c:pt idx="11">
                  <c:v>Norvegia</c:v>
                </c:pt>
                <c:pt idx="12">
                  <c:v>Svizzera</c:v>
                </c:pt>
                <c:pt idx="13">
                  <c:v>Giappone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2.8</c:v>
                </c:pt>
                <c:pt idx="1">
                  <c:v>3.5</c:v>
                </c:pt>
                <c:pt idx="2">
                  <c:v>3</c:v>
                </c:pt>
                <c:pt idx="3">
                  <c:v>6.7</c:v>
                </c:pt>
                <c:pt idx="4">
                  <c:v>5</c:v>
                </c:pt>
                <c:pt idx="5">
                  <c:v>4.3</c:v>
                </c:pt>
                <c:pt idx="6">
                  <c:v>5.0999999999999996</c:v>
                </c:pt>
                <c:pt idx="7">
                  <c:v>5.8</c:v>
                </c:pt>
                <c:pt idx="8">
                  <c:v>8</c:v>
                </c:pt>
                <c:pt idx="9">
                  <c:v>8.6</c:v>
                </c:pt>
                <c:pt idx="10">
                  <c:v>3.9</c:v>
                </c:pt>
                <c:pt idx="11">
                  <c:v>8.1</c:v>
                </c:pt>
                <c:pt idx="12">
                  <c:v>3.2</c:v>
                </c:pt>
                <c:pt idx="13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F-441F-AAA6-EE74D0BA87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UK Sport: investimento ciclo t vs medaglie ciclo t+1 (×5 per scala)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 £M (ciclo t)</c:v>
                </c:pt>
              </c:strCache>
            </c:strRef>
          </c:tx>
          <c:spPr>
            <a:ln w="38100" cap="flat">
              <a:solidFill>
                <a:srgbClr val="1A6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9A"/>
              </a:solidFill>
              <a:ln w="9525" cap="flat">
                <a:solidFill>
                  <a:srgbClr val="1A6B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Sydney</c:v>
                </c:pt>
                <c:pt idx="1">
                  <c:v>Athens</c:v>
                </c:pt>
                <c:pt idx="2">
                  <c:v>Beijing</c:v>
                </c:pt>
                <c:pt idx="3">
                  <c:v>London</c:v>
                </c:pt>
                <c:pt idx="4">
                  <c:v>Rio</c:v>
                </c:pt>
                <c:pt idx="5">
                  <c:v>Tokyo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58.9</c:v>
                </c:pt>
                <c:pt idx="1">
                  <c:v>71</c:v>
                </c:pt>
                <c:pt idx="2">
                  <c:v>235</c:v>
                </c:pt>
                <c:pt idx="3">
                  <c:v>264</c:v>
                </c:pt>
                <c:pt idx="4">
                  <c:v>274</c:v>
                </c:pt>
                <c:pt idx="5">
                  <c:v>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5-48A0-A919-713166DCDA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Medaglie ciclo t+1 (×5)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Sydney</c:v>
                </c:pt>
                <c:pt idx="1">
                  <c:v>Athens</c:v>
                </c:pt>
                <c:pt idx="2">
                  <c:v>Beijing</c:v>
                </c:pt>
                <c:pt idx="3">
                  <c:v>London</c:v>
                </c:pt>
                <c:pt idx="4">
                  <c:v>Rio</c:v>
                </c:pt>
                <c:pt idx="5">
                  <c:v>Tokyo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150</c:v>
                </c:pt>
                <c:pt idx="1">
                  <c:v>235</c:v>
                </c:pt>
                <c:pt idx="2">
                  <c:v>325</c:v>
                </c:pt>
                <c:pt idx="3">
                  <c:v>335</c:v>
                </c:pt>
                <c:pt idx="4">
                  <c:v>325</c:v>
                </c:pt>
                <c:pt idx="5">
                  <c:v>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B5-48A0-A919-713166DCD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Δ medaglie: anno hosting vs media altre edizioni dello stesso paese  (* boicottaggi — dati distorti)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5562785554583462E-2"/>
          <c:y val="0.20901416122004357"/>
          <c:w val="0.90088901647710706"/>
          <c:h val="0.698551927332612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medaglie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FD1-4482-B3F9-9005D1C40A44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D1-4482-B3F9-9005D1C40A44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D1-4482-B3F9-9005D1C40A44}"/>
              </c:ext>
            </c:extLst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D1-4482-B3F9-9005D1C40A44}"/>
              </c:ext>
            </c:extLst>
          </c:dPt>
          <c:dPt>
            <c:idx val="4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D1-4482-B3F9-9005D1C40A44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FD1-4482-B3F9-9005D1C40A44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FD1-4482-B3F9-9005D1C40A44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FD1-4482-B3F9-9005D1C40A44}"/>
              </c:ext>
            </c:extLst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FD1-4482-B3F9-9005D1C40A44}"/>
              </c:ext>
            </c:extLst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FD1-4482-B3F9-9005D1C40A44}"/>
              </c:ext>
            </c:extLst>
          </c:dPt>
          <c:dPt>
            <c:idx val="1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FD1-4482-B3F9-9005D1C40A44}"/>
              </c:ext>
            </c:extLst>
          </c:dPt>
          <c:dPt>
            <c:idx val="1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FD1-4482-B3F9-9005D1C40A44}"/>
              </c:ext>
            </c:extLst>
          </c:dPt>
          <c:dPt>
            <c:idx val="1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5FD1-4482-B3F9-9005D1C40A44}"/>
              </c:ext>
            </c:extLst>
          </c:dPt>
          <c:dLbls>
            <c:dLbl>
              <c:idx val="0"/>
              <c:layout>
                <c:manualLayout>
                  <c:x val="-8.2947530864197525E-2"/>
                  <c:y val="3.40413943355119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D1-4482-B3F9-9005D1C40A44}"/>
                </c:ext>
              </c:extLst>
            </c:dLbl>
            <c:dLbl>
              <c:idx val="1"/>
              <c:layout>
                <c:manualLayout>
                  <c:x val="-0.10223750243025177"/>
                  <c:y val="3.40413943355119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D1-4482-B3F9-9005D1C40A44}"/>
                </c:ext>
              </c:extLst>
            </c:dLbl>
            <c:dLbl>
              <c:idx val="2"/>
              <c:layout>
                <c:manualLayout>
                  <c:x val="-5.5941206133955479E-2"/>
                  <c:y val="-1.2481700400019601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D1-4482-B3F9-9005D1C40A4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Canada 1976</c:v>
                </c:pt>
                <c:pt idx="1">
                  <c:v>USA 1996</c:v>
                </c:pt>
                <c:pt idx="2">
                  <c:v>W.Germany 1972</c:v>
                </c:pt>
                <c:pt idx="3">
                  <c:v>Giappone 1964</c:v>
                </c:pt>
                <c:pt idx="4">
                  <c:v>Messico 1968</c:v>
                </c:pt>
                <c:pt idx="5">
                  <c:v>Brasile 2016</c:v>
                </c:pt>
                <c:pt idx="6">
                  <c:v>Spagna 1992</c:v>
                </c:pt>
                <c:pt idx="7">
                  <c:v>Grecia 2004</c:v>
                </c:pt>
                <c:pt idx="8">
                  <c:v>Australia 2000</c:v>
                </c:pt>
                <c:pt idx="9">
                  <c:v>Giappone 2020</c:v>
                </c:pt>
                <c:pt idx="10">
                  <c:v>GB 2012</c:v>
                </c:pt>
                <c:pt idx="11">
                  <c:v>USA 1984*</c:v>
                </c:pt>
                <c:pt idx="12">
                  <c:v>URSS 1980*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-4.5999999999999996</c:v>
                </c:pt>
                <c:pt idx="1">
                  <c:v>-7.1</c:v>
                </c:pt>
                <c:pt idx="2">
                  <c:v>-1</c:v>
                </c:pt>
                <c:pt idx="3">
                  <c:v>2</c:v>
                </c:pt>
                <c:pt idx="4">
                  <c:v>5.5</c:v>
                </c:pt>
                <c:pt idx="5">
                  <c:v>10.4</c:v>
                </c:pt>
                <c:pt idx="6">
                  <c:v>12.1</c:v>
                </c:pt>
                <c:pt idx="7">
                  <c:v>12.6</c:v>
                </c:pt>
                <c:pt idx="8">
                  <c:v>31</c:v>
                </c:pt>
                <c:pt idx="9">
                  <c:v>33.1</c:v>
                </c:pt>
                <c:pt idx="10">
                  <c:v>35.1</c:v>
                </c:pt>
                <c:pt idx="11">
                  <c:v>71.5</c:v>
                </c:pt>
                <c:pt idx="12">
                  <c:v>86.4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5FD1-4482-B3F9-9005D1C40A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2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0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Sportivo → Medaglie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SPLISS + UK Sport: dalla correlazione PIL alla spesa élite reale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2852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SPLISS Tokyo 2020 + Paris 2024  ·  UK Sport Historical Funding  ·  14-17 nazioni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603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SPLISS vs PIL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99339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UK Sport: 7 cicli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3075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73075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Costo per medaglia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6811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6811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Effetto lag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0547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20547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Effetto host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Spesa Élite vs PIL come Predittore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× 100: spesa reale SPLISS vs PIL (proxy) — Tokyo 2020 e Paris 2024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8631936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UK Sport: Investimento → Medaglie (2000–2024)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cicli olimpici consecutivi — r=0.947  R²=0.90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921381777"/>
              </p:ext>
            </p:extLst>
          </p:nvPr>
        </p:nvGraphicFramePr>
        <p:xfrm>
          <a:off x="256032" y="1170432"/>
          <a:ext cx="59436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56032" y="3182112"/>
          <a:ext cx="594360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382512" y="1170432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6382512" y="126187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r=0.947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6382512" y="181051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invest.→medaglie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82512" y="2157984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6382512" y="22494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R²=0.90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382512" y="279806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 spiegata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82512" y="3145536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6382512" y="3236976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+495%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382512" y="37856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2000→2024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82512" y="4133088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6382512" y="422452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+132%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382512" y="47731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 2000→2024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Costo per Medaglia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€M investiti per ogni medaglia olimpica — SPLISS 14 nazioni (Tokyo 2020)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8631936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Effetto 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L'investimento oggi → medaglie tra 4-8 anni — UK Sport 2000–2024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029615229"/>
              </p:ext>
            </p:extLst>
          </p:nvPr>
        </p:nvGraphicFramePr>
        <p:xfrm>
          <a:off x="256032" y="1170432"/>
          <a:ext cx="594360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82512" y="1170432"/>
            <a:ext cx="250545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6382512" y="1170432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565392" y="12618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lag confermato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65392" y="160020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investe di più in un ciclo tende a vincere di più nel ciclo successivo (4 anni dopo). Il talento sportivo richiede 8-12 anni di sviluppo.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82512" y="2432304"/>
            <a:ext cx="250545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382512" y="2432304"/>
            <a:ext cx="9144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565392" y="252374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Continuità necessaria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65392" y="286207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basta investire un ciclo. UK Sport ha aumentato i fondi per 6 cicli consecutivi — la coerenza è parte del successo.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82512" y="3694176"/>
            <a:ext cx="250545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382512" y="3694176"/>
            <a:ext cx="91440" cy="11155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565392" y="37856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2008: +231%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65392" y="4123944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£71M (Atene) a £235M (Pechino): il salto più grande. Risultato: 47 medaglie a Pechino, 65 a Londra 2012.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Effetto Paese Ospitante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medaglie nell'anno di hosting rispetto alla propria media storica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67895815"/>
              </p:ext>
            </p:extLst>
          </p:nvPr>
        </p:nvGraphicFramePr>
        <p:xfrm>
          <a:off x="256032" y="1170432"/>
          <a:ext cx="658368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22592" y="1170432"/>
            <a:ext cx="1865376" cy="1133856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7022592" y="126187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022592" y="181051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con effetto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22592" y="2487168"/>
            <a:ext cx="1865376" cy="1133856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022592" y="257860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+11.7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022592" y="3127248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medio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boicottaggi)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22592" y="3803904"/>
            <a:ext cx="1865376" cy="1133856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022592" y="38953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22592" y="444398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Notebook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spesa élite spiega le medaglie meglio del PIL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70432"/>
          <a:ext cx="6217920" cy="3291841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SPLISS: spesa élite vs medaglie (Tokyo)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SPLISS: spesa élite vs medaglie (Paris)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Sport: invest. totale → medaglie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0.947  R²=0.90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Sport: per disciplina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Correlazione positiva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lag (invest. t-4 → medaglie 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paese ospitante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+11.7 med. (p=0.014)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56832" y="1170432"/>
            <a:ext cx="2231136" cy="3291840"/>
          </a:xfrm>
          <a:prstGeom prst="rect">
            <a:avLst/>
          </a:prstGeom>
          <a:solidFill>
            <a:srgbClr val="11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748272" y="12801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chiave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6748272" y="1645920"/>
            <a:ext cx="20482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spesa élite reale spiega le medaglie meglio del PIL: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r=0.85 vs r=0.68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segnale è coerente su SPLISS (14-17 nazioni) e UK Sport (7 cicli).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48272" y="3840480"/>
            <a:ext cx="204825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748272" y="3858768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505</Words>
  <Application>Microsoft Office PowerPoint</Application>
  <PresentationFormat>Presentazione su schermo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Pascuzzi Giuseppe</cp:lastModifiedBy>
  <cp:revision>5</cp:revision>
  <dcterms:created xsi:type="dcterms:W3CDTF">2026-06-25T12:57:26Z</dcterms:created>
  <dcterms:modified xsi:type="dcterms:W3CDTF">2026-06-25T13:19:37Z</dcterms:modified>
</cp:coreProperties>
</file>