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Dati mancanti per variabile (%)  —  Verde: affidabili  |  Arancione: cautela  |  Rosso: escluse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mancanti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0A-4663-BDEA-7498DAB8C1D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E0A-4663-BDEA-7498DAB8C1D2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0A-4663-BDEA-7498DAB8C1D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0A-4663-BDEA-7498DAB8C1D2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0A-4663-BDEA-7498DAB8C1D2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0A-4663-BDEA-7498DAB8C1D2}"/>
              </c:ext>
            </c:extLst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E0A-4663-BDEA-7498DAB8C1D2}"/>
              </c:ext>
            </c:extLst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E0A-4663-BDEA-7498DAB8C1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Popolazione</c:v>
                </c:pt>
                <c:pt idx="1">
                  <c:v>Aspett. vita</c:v>
                </c:pt>
                <c:pt idx="2">
                  <c:v>PIL totale</c:v>
                </c:pt>
                <c:pt idx="3">
                  <c:v>PIL p.c.</c:v>
                </c:pt>
                <c:pt idx="4">
                  <c:v>Crescita PIL</c:v>
                </c:pt>
                <c:pt idx="5">
                  <c:v>Istruzione prim.</c:v>
                </c:pt>
                <c:pt idx="6">
                  <c:v>Settore servizi</c:v>
                </c:pt>
                <c:pt idx="7">
                  <c:v>Spesa militare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19</c:v>
                </c:pt>
                <c:pt idx="3">
                  <c:v>19</c:v>
                </c:pt>
                <c:pt idx="4">
                  <c:v>20</c:v>
                </c:pt>
                <c:pt idx="5">
                  <c:v>40</c:v>
                </c:pt>
                <c:pt idx="6">
                  <c:v>41</c:v>
                </c:pt>
                <c:pt idx="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E0A-4663-BDEA-7498DAB8C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Pearson r × 100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× 100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A8-42DC-8E59-B625B3A169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4A8-42DC-8E59-B625B3A1694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4A8-42DC-8E59-B625B3A1694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4A8-42DC-8E59-B625B3A16944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A8-42DC-8E59-B625B3A169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PIL pro capite (log)</c:v>
                </c:pt>
                <c:pt idx="1">
                  <c:v>% Urbanizzazione</c:v>
                </c:pt>
                <c:pt idx="2">
                  <c:v>Aspett. vita</c:v>
                </c:pt>
                <c:pt idx="3">
                  <c:v>log(Popolazione)</c:v>
                </c:pt>
                <c:pt idx="4">
                  <c:v>log(PIL totale)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23</c:v>
                </c:pt>
                <c:pt idx="2">
                  <c:v>27</c:v>
                </c:pt>
                <c:pt idx="3">
                  <c:v>36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A8-42DC-8E59-B625B3A169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Medaglie totali assegnate per edizione estiva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Medaglie totali</c:v>
                </c:pt>
              </c:strCache>
            </c:strRef>
          </c:tx>
          <c:spPr>
            <a:ln w="444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504</c:v>
                </c:pt>
                <c:pt idx="1">
                  <c:v>527</c:v>
                </c:pt>
                <c:pt idx="2">
                  <c:v>600</c:v>
                </c:pt>
                <c:pt idx="3">
                  <c:v>613</c:v>
                </c:pt>
                <c:pt idx="4">
                  <c:v>631</c:v>
                </c:pt>
                <c:pt idx="5">
                  <c:v>688</c:v>
                </c:pt>
                <c:pt idx="6">
                  <c:v>739</c:v>
                </c:pt>
                <c:pt idx="7">
                  <c:v>815</c:v>
                </c:pt>
                <c:pt idx="8">
                  <c:v>842</c:v>
                </c:pt>
                <c:pt idx="9">
                  <c:v>927</c:v>
                </c:pt>
                <c:pt idx="10">
                  <c:v>926</c:v>
                </c:pt>
                <c:pt idx="11">
                  <c:v>958</c:v>
                </c:pt>
                <c:pt idx="12">
                  <c:v>960</c:v>
                </c:pt>
                <c:pt idx="13">
                  <c:v>972</c:v>
                </c:pt>
                <c:pt idx="14">
                  <c:v>1080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1AF-43EF-BB0D-00540944A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Medaglie olimpiche estive per edizione — clicca sulla legenda per isolare un paese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ln w="31750" cap="flat">
              <a:solidFill>
                <a:srgbClr val="1A6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9A"/>
              </a:solidFill>
              <a:ln w="9525" cap="flat">
                <a:solidFill>
                  <a:srgbClr val="1A6B9A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90</c:v>
                </c:pt>
                <c:pt idx="1">
                  <c:v>107</c:v>
                </c:pt>
                <c:pt idx="2">
                  <c:v>94</c:v>
                </c:pt>
                <c:pt idx="3">
                  <c:v>94</c:v>
                </c:pt>
                <c:pt idx="4">
                  <c:v>0</c:v>
                </c:pt>
                <c:pt idx="5">
                  <c:v>174</c:v>
                </c:pt>
                <c:pt idx="6">
                  <c:v>88</c:v>
                </c:pt>
                <c:pt idx="7">
                  <c:v>108</c:v>
                </c:pt>
                <c:pt idx="8">
                  <c:v>101</c:v>
                </c:pt>
                <c:pt idx="9">
                  <c:v>93</c:v>
                </c:pt>
                <c:pt idx="10">
                  <c:v>103</c:v>
                </c:pt>
                <c:pt idx="11">
                  <c:v>110</c:v>
                </c:pt>
                <c:pt idx="12">
                  <c:v>104</c:v>
                </c:pt>
                <c:pt idx="13">
                  <c:v>121</c:v>
                </c:pt>
                <c:pt idx="14">
                  <c:v>113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8F-4989-9DC6-7C7F7AC94E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URSS/RUS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96</c:v>
                </c:pt>
                <c:pt idx="1">
                  <c:v>91</c:v>
                </c:pt>
                <c:pt idx="2">
                  <c:v>99</c:v>
                </c:pt>
                <c:pt idx="3">
                  <c:v>125</c:v>
                </c:pt>
                <c:pt idx="4">
                  <c:v>195</c:v>
                </c:pt>
                <c:pt idx="5">
                  <c:v>0</c:v>
                </c:pt>
                <c:pt idx="6">
                  <c:v>132</c:v>
                </c:pt>
                <c:pt idx="7">
                  <c:v>45</c:v>
                </c:pt>
                <c:pt idx="8">
                  <c:v>63</c:v>
                </c:pt>
                <c:pt idx="9">
                  <c:v>89</c:v>
                </c:pt>
                <c:pt idx="10">
                  <c:v>92</c:v>
                </c:pt>
                <c:pt idx="11">
                  <c:v>73</c:v>
                </c:pt>
                <c:pt idx="12">
                  <c:v>82</c:v>
                </c:pt>
                <c:pt idx="13">
                  <c:v>56</c:v>
                </c:pt>
                <c:pt idx="14">
                  <c:v>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78F-4989-9DC6-7C7F7AC94E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Cina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32</c:v>
                </c:pt>
                <c:pt idx="6">
                  <c:v>28</c:v>
                </c:pt>
                <c:pt idx="7">
                  <c:v>54</c:v>
                </c:pt>
                <c:pt idx="8">
                  <c:v>50</c:v>
                </c:pt>
                <c:pt idx="9">
                  <c:v>59</c:v>
                </c:pt>
                <c:pt idx="10">
                  <c:v>63</c:v>
                </c:pt>
                <c:pt idx="11">
                  <c:v>100</c:v>
                </c:pt>
                <c:pt idx="12">
                  <c:v>88</c:v>
                </c:pt>
                <c:pt idx="13">
                  <c:v>70</c:v>
                </c:pt>
                <c:pt idx="1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78F-4989-9DC6-7C7F7AC94E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GB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18</c:v>
                </c:pt>
                <c:pt idx="1">
                  <c:v>13</c:v>
                </c:pt>
                <c:pt idx="2">
                  <c:v>18</c:v>
                </c:pt>
                <c:pt idx="3">
                  <c:v>13</c:v>
                </c:pt>
                <c:pt idx="4">
                  <c:v>21</c:v>
                </c:pt>
                <c:pt idx="5">
                  <c:v>37</c:v>
                </c:pt>
                <c:pt idx="6">
                  <c:v>24</c:v>
                </c:pt>
                <c:pt idx="7">
                  <c:v>20</c:v>
                </c:pt>
                <c:pt idx="8">
                  <c:v>15</c:v>
                </c:pt>
                <c:pt idx="9">
                  <c:v>28</c:v>
                </c:pt>
                <c:pt idx="10">
                  <c:v>30</c:v>
                </c:pt>
                <c:pt idx="11">
                  <c:v>47</c:v>
                </c:pt>
                <c:pt idx="12">
                  <c:v>65</c:v>
                </c:pt>
                <c:pt idx="13">
                  <c:v>67</c:v>
                </c:pt>
                <c:pt idx="14">
                  <c:v>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78F-4989-9DC6-7C7F7AC94E3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Australia</c:v>
                </c:pt>
              </c:strCache>
            </c:strRef>
          </c:tx>
          <c:spPr>
            <a:ln w="31750" cap="flat">
              <a:solidFill>
                <a:srgbClr val="9333E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333EA"/>
              </a:solidFill>
              <a:ln w="9525" cap="flat">
                <a:solidFill>
                  <a:srgbClr val="9333EA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18</c:v>
                </c:pt>
                <c:pt idx="1">
                  <c:v>17</c:v>
                </c:pt>
                <c:pt idx="2">
                  <c:v>17</c:v>
                </c:pt>
                <c:pt idx="3">
                  <c:v>5</c:v>
                </c:pt>
                <c:pt idx="4">
                  <c:v>9</c:v>
                </c:pt>
                <c:pt idx="5">
                  <c:v>24</c:v>
                </c:pt>
                <c:pt idx="6">
                  <c:v>14</c:v>
                </c:pt>
                <c:pt idx="7">
                  <c:v>27</c:v>
                </c:pt>
                <c:pt idx="8">
                  <c:v>41</c:v>
                </c:pt>
                <c:pt idx="9">
                  <c:v>58</c:v>
                </c:pt>
                <c:pt idx="10">
                  <c:v>49</c:v>
                </c:pt>
                <c:pt idx="11">
                  <c:v>46</c:v>
                </c:pt>
                <c:pt idx="12">
                  <c:v>35</c:v>
                </c:pt>
                <c:pt idx="13">
                  <c:v>29</c:v>
                </c:pt>
                <c:pt idx="14">
                  <c:v>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B78F-4989-9DC6-7C7F7AC94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Medaglie Italia per edizione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8</c:v>
                </c:pt>
                <c:pt idx="5">
                  <c:v>14</c:v>
                </c:pt>
                <c:pt idx="6">
                  <c:v>6</c:v>
                </c:pt>
                <c:pt idx="7">
                  <c:v>6</c:v>
                </c:pt>
                <c:pt idx="8">
                  <c:v>13</c:v>
                </c:pt>
                <c:pt idx="9">
                  <c:v>13</c:v>
                </c:pt>
                <c:pt idx="10">
                  <c:v>10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4-44A2-BA9D-E28ECD3FE7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Argenti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</c:v>
                </c:pt>
                <c:pt idx="1">
                  <c:v>4</c:v>
                </c:pt>
                <c:pt idx="2">
                  <c:v>3</c:v>
                </c:pt>
                <c:pt idx="3">
                  <c:v>7</c:v>
                </c:pt>
                <c:pt idx="4">
                  <c:v>3</c:v>
                </c:pt>
                <c:pt idx="5">
                  <c:v>6</c:v>
                </c:pt>
                <c:pt idx="6">
                  <c:v>4</c:v>
                </c:pt>
                <c:pt idx="7">
                  <c:v>5</c:v>
                </c:pt>
                <c:pt idx="8">
                  <c:v>10</c:v>
                </c:pt>
                <c:pt idx="9">
                  <c:v>8</c:v>
                </c:pt>
                <c:pt idx="10">
                  <c:v>11</c:v>
                </c:pt>
                <c:pt idx="11">
                  <c:v>9</c:v>
                </c:pt>
                <c:pt idx="12">
                  <c:v>9</c:v>
                </c:pt>
                <c:pt idx="13">
                  <c:v>12</c:v>
                </c:pt>
                <c:pt idx="1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34-44A2-BA9D-E28ECD3FE7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Bronzi</c:v>
                </c:pt>
              </c:strCache>
            </c:strRef>
          </c:tx>
          <c:spPr>
            <a:solidFill>
              <a:srgbClr val="CD7F32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7</c:v>
                </c:pt>
                <c:pt idx="1">
                  <c:v>9</c:v>
                </c:pt>
                <c:pt idx="2">
                  <c:v>10</c:v>
                </c:pt>
                <c:pt idx="3">
                  <c:v>4</c:v>
                </c:pt>
                <c:pt idx="4">
                  <c:v>4</c:v>
                </c:pt>
                <c:pt idx="5">
                  <c:v>12</c:v>
                </c:pt>
                <c:pt idx="6">
                  <c:v>4</c:v>
                </c:pt>
                <c:pt idx="7">
                  <c:v>8</c:v>
                </c:pt>
                <c:pt idx="8">
                  <c:v>12</c:v>
                </c:pt>
                <c:pt idx="9">
                  <c:v>13</c:v>
                </c:pt>
                <c:pt idx="10">
                  <c:v>11</c:v>
                </c:pt>
                <c:pt idx="11">
                  <c:v>10</c:v>
                </c:pt>
                <c:pt idx="12">
                  <c:v>11</c:v>
                </c:pt>
                <c:pt idx="13">
                  <c:v>8</c:v>
                </c:pt>
                <c:pt idx="1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34-44A2-BA9D-E28ECD3FE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261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790688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66176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BE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552944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028432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1D7A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Esplorazione del Dataset Olimpico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 olimpiche estive e indicatori socioeconomici (1964–2020)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olympic_medals_clean.csv  ·  6.513 righe  ·  232 paesi  ·  16 edizioni estive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4315968"/>
            <a:ext cx="1993392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2608" y="4334256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Dataset &amp; Qualità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315968"/>
            <a:ext cx="1993392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468880" y="4334256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Correlazioni PIL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45152" y="4315968"/>
            <a:ext cx="1993392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45152" y="4334256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Analisi Storica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4315968"/>
            <a:ext cx="1993392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821424" y="4334256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Focus Italia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Il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Struttura, copertura e qualità dei dati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20116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6.513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analizzate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70432"/>
            <a:ext cx="20116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468880" y="12618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unici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170432"/>
            <a:ext cx="20116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81728" y="12618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81728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Edizioni estive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1170432"/>
            <a:ext cx="201168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94576" y="12618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94576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WB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56032" y="2331720"/>
          <a:ext cx="8631936" cy="254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Correlazioni: PIL vs Medaglie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di Pearson × 100 — olimpiadi estive, soli vincitori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88696143"/>
              </p:ext>
            </p:extLst>
          </p:nvPr>
        </p:nvGraphicFramePr>
        <p:xfrm>
          <a:off x="256032" y="1170432"/>
          <a:ext cx="566928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08192" y="1170432"/>
            <a:ext cx="277977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6108192" y="1170432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291072" y="12618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&gt; Ricchezza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91072" y="160020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totale (r=0.68) domina: la massa economica del paese, non il reddito individuale, spiega le medaglie.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08192" y="2432304"/>
            <a:ext cx="277977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108192" y="2432304"/>
            <a:ext cx="9144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291072" y="252374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pro capite debole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91072" y="286207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r=0.24 — spiega meno del 6% della varianza. Cina e India lo confermano.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08192" y="3694176"/>
            <a:ext cx="2779776" cy="1115568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108192" y="3694176"/>
            <a:ext cx="91440" cy="11155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291072" y="378561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umano correlato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91072" y="4123944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Aspettativa di vita (r=0.27) e urbanizzazione (r=0.23): paesi sviluppati costruiscono sistemi sportivi strutturati.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Crescita Medaglie (1964–2020)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medaglie assegnate sono quasi raddoppiate — perché?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59436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82512" y="1170432"/>
            <a:ext cx="250545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382512" y="126187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382512" y="181051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1964→2020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82512" y="2468880"/>
            <a:ext cx="250545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382512" y="2560320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82512" y="31089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Tokyo 2020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82512" y="3767328"/>
            <a:ext cx="250545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382512" y="385876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382512" y="440740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principali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82512" y="3813048"/>
            <a:ext cx="250545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492240" y="3913632"/>
            <a:ext cx="230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Nuove discipline (BMX, skateboard), parità di genere e più paesi partecipanti spiegano il raddoppio.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Top 5 Paesi Storici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medaglie per paese — i boicottaggi distorcono il segnale economico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8631936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Focus Italia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 olimpiche estive — evoluzione 1964–2020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830662680"/>
              </p:ext>
            </p:extLst>
          </p:nvPr>
        </p:nvGraphicFramePr>
        <p:xfrm>
          <a:off x="256032" y="1170432"/>
          <a:ext cx="594360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82512" y="1170432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0092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382512" y="126187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382512" y="181051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 totali (15 edizioni)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82512" y="2157984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382512" y="22494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382512" y="279806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per edizione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82512" y="3145536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382512" y="3236976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r=0.45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82512" y="37856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con PIL p.c.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82512" y="4133088"/>
            <a:ext cx="250545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382512" y="422452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382512" y="47731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— 40 medaglie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Notebook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alla domanda: i paesi più ricchi vincono più medaglie?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70432"/>
          <a:ext cx="6217920" cy="373075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totale → medaglie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— migliore predittore disponibile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pro capite → medaglie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Debole — ricchezza individuale conta poco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Popolazione → medaglie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— grande demografia aiuta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Aspettativa di vita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— proxy di sviluppo umano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Boicottaggi 1980/84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 correlazione PIL-medaglie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Medaglie per abitante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Top: Giamaica, Cuba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Paesi piccoli specializzati dominano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0.45 con PIL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 ma non deterministico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56832" y="1170432"/>
            <a:ext cx="2231136" cy="3730752"/>
          </a:xfrm>
          <a:prstGeom prst="rect">
            <a:avLst/>
          </a:prstGeom>
          <a:solidFill>
            <a:srgbClr val="112038"/>
          </a:solidFill>
          <a:ln w="127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748272" y="128016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principale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6748272" y="1627632"/>
            <a:ext cx="20482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è solo un PROXY dell'investimento sportivo.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paese può avere PIL alto e investire poco nello sport — o viceversa.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rispondere alla vera domanda servono i dati reali di spesa sportiva élite.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48272" y="4297680"/>
            <a:ext cx="204825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748272" y="4315968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Presentazione su schermo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Pascuzzi Giuseppe</cp:lastModifiedBy>
  <cp:revision>2</cp:revision>
  <dcterms:created xsi:type="dcterms:W3CDTF">2026-06-25T12:57:26Z</dcterms:created>
  <dcterms:modified xsi:type="dcterms:W3CDTF">2026-06-25T13:15:44Z</dcterms:modified>
</cp:coreProperties>
</file>