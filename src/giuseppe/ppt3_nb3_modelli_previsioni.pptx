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6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R² (cross-validation 5-fold) × 100  —  Random Forest e Gradient Boosting dominano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× 100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763-4A76-AC7E-D8E439C165C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763-4A76-AC7E-D8E439C165C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E763-4A76-AC7E-D8E439C165CF}"/>
              </c:ext>
            </c:extLst>
          </c:dPt>
          <c:dPt>
            <c:idx val="3"/>
            <c:invertIfNegative val="0"/>
            <c:bubble3D val="0"/>
            <c:spPr>
              <a:solidFill>
                <a:srgbClr val="1A6B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763-4A76-AC7E-D8E439C165CF}"/>
              </c:ext>
            </c:extLst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763-4A76-AC7E-D8E439C165C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0A2342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OLS baseline</c:v>
                </c:pt>
                <c:pt idx="1">
                  <c:v>Ridge</c:v>
                </c:pt>
                <c:pt idx="2">
                  <c:v>Lasso CV</c:v>
                </c:pt>
                <c:pt idx="3">
                  <c:v>Gradient Boosting</c:v>
                </c:pt>
                <c:pt idx="4">
                  <c:v>Random Forest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</c:v>
                </c:pt>
                <c:pt idx="1">
                  <c:v>44</c:v>
                </c:pt>
                <c:pt idx="2">
                  <c:v>43</c:v>
                </c:pt>
                <c:pt idx="3">
                  <c:v>82</c:v>
                </c:pt>
                <c:pt idx="4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763-4A76-AC7E-D8E439C165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it-IT" sz="1800" b="0" i="0" u="none" strike="noStrike" dirty="0">
                <a:solidFill>
                  <a:schemeClr val="bg1"/>
                </a:solidFill>
                <a:latin typeface="Arial"/>
              </a:rPr>
              <a:t>Importanza relativa delle feature — Random Forest (200 alberi, </a:t>
            </a:r>
            <a:r>
              <a:rPr lang="it-IT" sz="1800" b="0" i="0" u="none" strike="noStrike" dirty="0" err="1">
                <a:solidFill>
                  <a:schemeClr val="bg1"/>
                </a:solidFill>
                <a:latin typeface="Arial"/>
              </a:rPr>
              <a:t>max_depth</a:t>
            </a:r>
            <a:r>
              <a:rPr lang="it-IT" sz="1800" b="0" i="0" u="none" strike="noStrike" dirty="0">
                <a:solidFill>
                  <a:schemeClr val="bg1"/>
                </a:solidFill>
                <a:latin typeface="Arial"/>
              </a:rPr>
              <a:t>=8)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Importanza relativa (%)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586-4812-8737-C80D2759796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586-4812-8737-C80D2759796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586-4812-8737-C80D27597963}"/>
              </c:ext>
            </c:extLst>
          </c:dPt>
          <c:dPt>
            <c:idx val="3"/>
            <c:invertIfNegative val="0"/>
            <c:bubble3D val="0"/>
            <c:spPr>
              <a:solidFill>
                <a:srgbClr val="1A6B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586-4812-8737-C80D27597963}"/>
              </c:ext>
            </c:extLst>
          </c:dPt>
          <c:dPt>
            <c:idx val="4"/>
            <c:invertIfNegative val="0"/>
            <c:bubble3D val="0"/>
            <c:spPr>
              <a:solidFill>
                <a:srgbClr val="1A6B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586-4812-8737-C80D27597963}"/>
              </c:ext>
            </c:extLst>
          </c:dPt>
          <c:dPt>
            <c:idx val="5"/>
            <c:invertIfNegative val="0"/>
            <c:bubble3D val="0"/>
            <c:spPr>
              <a:solidFill>
                <a:srgbClr val="1A6B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586-4812-8737-C80D27597963}"/>
              </c:ext>
            </c:extLst>
          </c:dPt>
          <c:dPt>
            <c:idx val="6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586-4812-8737-C80D2759796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% Urbanizzazione</c:v>
                </c:pt>
                <c:pt idx="1">
                  <c:v>Aspett. vita</c:v>
                </c:pt>
                <c:pt idx="2">
                  <c:v>log(PIL p.c.)</c:v>
                </c:pt>
                <c:pt idx="3">
                  <c:v>Host (ospitante)</c:v>
                </c:pt>
                <c:pt idx="4">
                  <c:v>log(Popolazione)</c:v>
                </c:pt>
                <c:pt idx="5">
                  <c:v>log(PIL totale)</c:v>
                </c:pt>
                <c:pt idx="6">
                  <c:v>Medaglie ciclo precedente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</c:v>
                </c:pt>
                <c:pt idx="1">
                  <c:v>5</c:v>
                </c:pt>
                <c:pt idx="2">
                  <c:v>6</c:v>
                </c:pt>
                <c:pt idx="3">
                  <c:v>8</c:v>
                </c:pt>
                <c:pt idx="4">
                  <c:v>12</c:v>
                </c:pt>
                <c:pt idx="5">
                  <c:v>18</c:v>
                </c:pt>
                <c:pt idx="6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586-4812-8737-C80D2759796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35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8183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it-IT" sz="1800" b="0" i="0" u="none" strike="noStrike">
                <a:solidFill>
                  <a:srgbClr val="000000"/>
                </a:solidFill>
                <a:latin typeface="Arial"/>
              </a:rPr>
              <a:t>DiD SPLISS Tokyo→Paris: Δ medaglie medio per gruppo di variazione spesa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 medaglie medio per gruppo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BBC-4EF7-AC4B-48E775B631E6}"/>
              </c:ext>
            </c:extLst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BBC-4EF7-AC4B-48E775B631E6}"/>
              </c:ext>
            </c:extLst>
          </c:dPt>
          <c:dPt>
            <c:idx val="2"/>
            <c:invertIfNegative val="0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BBC-4EF7-AC4B-48E775B631E6}"/>
              </c:ext>
            </c:extLst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BBC-4EF7-AC4B-48E775B631E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0A2342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Taglio spesa (&lt; -15%)</c:v>
                </c:pt>
                <c:pt idx="1">
                  <c:v>Stabile (-15% / +15%)</c:v>
                </c:pt>
                <c:pt idx="2">
                  <c:v>Aumento moderato (+15/+40%)</c:v>
                </c:pt>
                <c:pt idx="3">
                  <c:v>Aumento forte (&gt; +40%)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-8.5</c:v>
                </c:pt>
                <c:pt idx="1">
                  <c:v>1.2</c:v>
                </c:pt>
                <c:pt idx="2">
                  <c:v>5.3</c:v>
                </c:pt>
                <c:pt idx="3">
                  <c:v>12.8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BBC-4EF7-AC4B-48E775B631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it-IT" sz="1800" b="0" i="0" u="none" strike="noStrike" dirty="0">
                <a:solidFill>
                  <a:schemeClr val="bg1"/>
                </a:solidFill>
                <a:latin typeface="Arial"/>
              </a:rPr>
              <a:t>Medaglie: Paris 2024 (grigio) vs previsione LA 2028 (verde) — Top 15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Paris 2024 (reale)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cat>
            <c:strRef>
              <c:f>Sheet1!$A$2:$A$16</c:f>
              <c:strCache>
                <c:ptCount val="15"/>
                <c:pt idx="0">
                  <c:v>Jamaica</c:v>
                </c:pt>
                <c:pt idx="1">
                  <c:v>Kenya</c:v>
                </c:pt>
                <c:pt idx="2">
                  <c:v>Brazil</c:v>
                </c:pt>
                <c:pt idx="3">
                  <c:v>New Zealand</c:v>
                </c:pt>
                <c:pt idx="4">
                  <c:v>Canada</c:v>
                </c:pt>
                <c:pt idx="5">
                  <c:v>South Korea</c:v>
                </c:pt>
                <c:pt idx="6">
                  <c:v>Netherlands</c:v>
                </c:pt>
                <c:pt idx="7">
                  <c:v>Italy</c:v>
                </c:pt>
                <c:pt idx="8">
                  <c:v>Japan</c:v>
                </c:pt>
                <c:pt idx="9">
                  <c:v>Germany</c:v>
                </c:pt>
                <c:pt idx="10">
                  <c:v>France</c:v>
                </c:pt>
                <c:pt idx="11">
                  <c:v>Australia</c:v>
                </c:pt>
                <c:pt idx="12">
                  <c:v>Great Britain</c:v>
                </c:pt>
                <c:pt idx="13">
                  <c:v>China</c:v>
                </c:pt>
                <c:pt idx="14">
                  <c:v>United States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9</c:v>
                </c:pt>
                <c:pt idx="1">
                  <c:v>11</c:v>
                </c:pt>
                <c:pt idx="2">
                  <c:v>20</c:v>
                </c:pt>
                <c:pt idx="3">
                  <c:v>20</c:v>
                </c:pt>
                <c:pt idx="4">
                  <c:v>27</c:v>
                </c:pt>
                <c:pt idx="5">
                  <c:v>32</c:v>
                </c:pt>
                <c:pt idx="6">
                  <c:v>34</c:v>
                </c:pt>
                <c:pt idx="7">
                  <c:v>40</c:v>
                </c:pt>
                <c:pt idx="8">
                  <c:v>45</c:v>
                </c:pt>
                <c:pt idx="9">
                  <c:v>33</c:v>
                </c:pt>
                <c:pt idx="10">
                  <c:v>66</c:v>
                </c:pt>
                <c:pt idx="11">
                  <c:v>53</c:v>
                </c:pt>
                <c:pt idx="12">
                  <c:v>65</c:v>
                </c:pt>
                <c:pt idx="13">
                  <c:v>91</c:v>
                </c:pt>
                <c:pt idx="14">
                  <c:v>126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00-41C6-B71E-C5649E0E45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 2028 (previsione)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Sheet1!$A$2:$A$16</c:f>
              <c:strCache>
                <c:ptCount val="15"/>
                <c:pt idx="0">
                  <c:v>Jamaica</c:v>
                </c:pt>
                <c:pt idx="1">
                  <c:v>Kenya</c:v>
                </c:pt>
                <c:pt idx="2">
                  <c:v>Brazil</c:v>
                </c:pt>
                <c:pt idx="3">
                  <c:v>New Zealand</c:v>
                </c:pt>
                <c:pt idx="4">
                  <c:v>Canada</c:v>
                </c:pt>
                <c:pt idx="5">
                  <c:v>South Korea</c:v>
                </c:pt>
                <c:pt idx="6">
                  <c:v>Netherlands</c:v>
                </c:pt>
                <c:pt idx="7">
                  <c:v>Italy</c:v>
                </c:pt>
                <c:pt idx="8">
                  <c:v>Japan</c:v>
                </c:pt>
                <c:pt idx="9">
                  <c:v>Germany</c:v>
                </c:pt>
                <c:pt idx="10">
                  <c:v>France</c:v>
                </c:pt>
                <c:pt idx="11">
                  <c:v>Australia</c:v>
                </c:pt>
                <c:pt idx="12">
                  <c:v>Great Britain</c:v>
                </c:pt>
                <c:pt idx="13">
                  <c:v>China</c:v>
                </c:pt>
                <c:pt idx="14">
                  <c:v>United States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9</c:v>
                </c:pt>
                <c:pt idx="1">
                  <c:v>12</c:v>
                </c:pt>
                <c:pt idx="2">
                  <c:v>19</c:v>
                </c:pt>
                <c:pt idx="3">
                  <c:v>21</c:v>
                </c:pt>
                <c:pt idx="4">
                  <c:v>28</c:v>
                </c:pt>
                <c:pt idx="5">
                  <c:v>34</c:v>
                </c:pt>
                <c:pt idx="6">
                  <c:v>31</c:v>
                </c:pt>
                <c:pt idx="7">
                  <c:v>38</c:v>
                </c:pt>
                <c:pt idx="8">
                  <c:v>50</c:v>
                </c:pt>
                <c:pt idx="9">
                  <c:v>36</c:v>
                </c:pt>
                <c:pt idx="10">
                  <c:v>60</c:v>
                </c:pt>
                <c:pt idx="11">
                  <c:v>57</c:v>
                </c:pt>
                <c:pt idx="12">
                  <c:v>68</c:v>
                </c:pt>
                <c:pt idx="13">
                  <c:v>98</c:v>
                </c:pt>
                <c:pt idx="14">
                  <c:v>133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00-41C6-B71E-C5649E0E45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35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818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5773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 Avanzati e Previsioni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Difference-in-Differences · Cluster · Los Angeles 2028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2743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256032" y="4315968"/>
            <a:ext cx="1572768" cy="548640"/>
          </a:xfrm>
          <a:prstGeom prst="rect">
            <a:avLst/>
          </a:prstGeom>
          <a:solidFill>
            <a:srgbClr val="0D1C3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256032" y="4334256"/>
            <a:ext cx="15727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Random Forest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93392" y="4315968"/>
            <a:ext cx="1572768" cy="548640"/>
          </a:xfrm>
          <a:prstGeom prst="rect">
            <a:avLst/>
          </a:prstGeom>
          <a:solidFill>
            <a:srgbClr val="0D1C3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993392" y="4334256"/>
            <a:ext cx="15727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Feature Importance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730752" y="4315968"/>
            <a:ext cx="1572768" cy="548640"/>
          </a:xfrm>
          <a:prstGeom prst="rect">
            <a:avLst/>
          </a:prstGeom>
          <a:solidFill>
            <a:srgbClr val="0D1C3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730752" y="4334256"/>
            <a:ext cx="15727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DiD Causale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68112" y="4315968"/>
            <a:ext cx="1572768" cy="548640"/>
          </a:xfrm>
          <a:prstGeom prst="rect">
            <a:avLst/>
          </a:prstGeom>
          <a:solidFill>
            <a:srgbClr val="0D1C3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468112" y="4334256"/>
            <a:ext cx="15727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Cluster paesi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205472" y="4315968"/>
            <a:ext cx="1572768" cy="548640"/>
          </a:xfrm>
          <a:prstGeom prst="rect">
            <a:avLst/>
          </a:prstGeom>
          <a:solidFill>
            <a:srgbClr val="0D1C35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7205472" y="4334256"/>
            <a:ext cx="15727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Previsioni LA 2028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Confronto 5 Modelli Predittivi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20040" y="78638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medio (cross-validation 5-fold) — dataset olimpico estivo 1968-2016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56032" y="1170432"/>
          <a:ext cx="5943600" cy="3730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382512" y="1170432"/>
            <a:ext cx="2505456" cy="877824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6382512" y="1261872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R²=0.85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382512" y="1810512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382512" y="2157984"/>
            <a:ext cx="2505456" cy="877824"/>
          </a:xfrm>
          <a:prstGeom prst="rect">
            <a:avLst/>
          </a:prstGeom>
          <a:solidFill>
            <a:srgbClr val="FFFFFF"/>
          </a:solidFill>
          <a:ln w="25400">
            <a:solidFill>
              <a:srgbClr val="1A6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6382512" y="2249424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R²=0.83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382512" y="2798064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out-of-sample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Tokyo 2020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382512" y="3145536"/>
            <a:ext cx="2505456" cy="877824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6382512" y="3236976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382512" y="3785616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— errore medio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(medaglie per paese)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382512" y="4133088"/>
            <a:ext cx="2505456" cy="877824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6382512" y="4224528"/>
            <a:ext cx="25054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+40pp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6382512" y="4773168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vs OLS baseline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improvement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Feature Importance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78638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 variabili il Random Forest usa di più per predire le medaglie?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755996426"/>
              </p:ext>
            </p:extLst>
          </p:nvPr>
        </p:nvGraphicFramePr>
        <p:xfrm>
          <a:off x="256032" y="1170432"/>
          <a:ext cx="8631936" cy="3730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Difference-in-Differences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20040" y="78638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ha aumentato la spesa ha guadagnato medaglie? — analisi causale SPLISS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56032" y="1170432"/>
          <a:ext cx="8631936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256032" y="4114800"/>
            <a:ext cx="8631936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3"/>
          <p:cNvSpPr/>
          <p:nvPr/>
        </p:nvSpPr>
        <p:spPr>
          <a:xfrm>
            <a:off x="256032" y="4114800"/>
            <a:ext cx="9144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438912" y="4206240"/>
            <a:ext cx="8375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Sport Atene→Pechino: +17 medaglie causali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38912" y="4544568"/>
            <a:ext cx="8375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 Bretagna ha triplicato i fondi (+231%). Ha guadagnato 17 medaglie IN PIÙ rispetto al trend degli altri paesi nello stesso periodo. Questo è l'effetto causale stimato dell'investimento.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56032" y="4114800"/>
            <a:ext cx="8631936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1A6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7"/>
          <p:cNvSpPr/>
          <p:nvPr/>
        </p:nvSpPr>
        <p:spPr>
          <a:xfrm>
            <a:off x="256032" y="4114800"/>
            <a:ext cx="91440" cy="804672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438912" y="4206240"/>
            <a:ext cx="8375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Causalità supportata — non solo correlazione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38912" y="4544568"/>
            <a:ext cx="8375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aumenta la spesa migliora le medaglie rispetto ai paesi con spesa stabile. Il pattern è consistente su due dataset indipendenti (SPLISS e UK Sport).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56032" y="4114800"/>
            <a:ext cx="8631936" cy="804672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256032" y="4114800"/>
            <a:ext cx="91440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438912" y="4206240"/>
            <a:ext cx="8375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residuo: endogeneità parziale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38912" y="4544568"/>
            <a:ext cx="8375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vince può ricevere più fondi (causa inversa parziale). Il DiD riduce il problema ma non lo elimina. Servirebbero Variabili Strumentali per stima formale.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56032" y="4114800"/>
            <a:ext cx="8631936" cy="804672"/>
          </a:xfrm>
          <a:prstGeom prst="rect">
            <a:avLst/>
          </a:prstGeom>
          <a:solidFill>
            <a:srgbClr val="EFF6F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411480" y="418795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UK Sport Atene→Pechino: GB guadagna +17 medaglie rispetto al trend degli altri paesi dopo aver triplicato i fondi — questa è la stima causale più robusta disponibile.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Cluster di Paesi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20040" y="78638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Quattro profili olimpici — KMeans su medaglie medie, PIL, consistenza, medaglie/abitante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56032" y="1170432"/>
            <a:ext cx="2029968" cy="3730752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2029968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29184" y="1225296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Potenze assolute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" y="1792224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· Cina · URSS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9184" y="2176272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PIL + grande popolazione. Dominano la classifica assoluta.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" y="2907792"/>
            <a:ext cx="1883664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29184" y="2999232"/>
            <a:ext cx="18836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 med/ediz · PIL alto · bassa efficienza/ab.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87168" y="1170432"/>
            <a:ext cx="2029968" cy="3730752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2487168" y="1170432"/>
            <a:ext cx="2029968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2560320" y="1225296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Specializzati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1792224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Giamaica · Cuba · Ungheria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176272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medio-basso ma investimento mirato su 1-3 discipline chiave.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0" y="2907792"/>
            <a:ext cx="1883664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2560320" y="2999232"/>
            <a:ext cx="18836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10-25 med/ediz · altissimo med/milione · 1-3 sport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18304" y="1170432"/>
            <a:ext cx="2029968" cy="3730752"/>
          </a:xfrm>
          <a:prstGeom prst="rect">
            <a:avLst/>
          </a:prstGeom>
          <a:solidFill>
            <a:srgbClr val="FFFFFF"/>
          </a:solidFill>
          <a:ln w="25400">
            <a:solidFill>
              <a:srgbClr val="1A6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4718304" y="1170432"/>
            <a:ext cx="2029968" cy="530352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791456" y="1225296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Emergenti / Medi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91456" y="1792224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· Australia · Francia · Corea del Sud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91456" y="2176272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medio-alto con investimento sistematico. Crescita costante.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91456" y="2907792"/>
            <a:ext cx="1883664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791456" y="2999232"/>
            <a:ext cx="18836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30-65 med/ediz · trend in crescita · PIL medio-alto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949440" y="1170432"/>
            <a:ext cx="2029968" cy="3730752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6949440" y="1170432"/>
            <a:ext cx="2029968" cy="5303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7022592" y="1225296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Partecipanti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22592" y="1792224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maggioranza dei 232 paesi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22592" y="2176272"/>
            <a:ext cx="1883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Partecipano raramente vincono. Alto potenziale se si investe.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022592" y="2907792"/>
            <a:ext cx="1883664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7022592" y="2999232"/>
            <a:ext cx="18836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0-3 med/ediz · bassa consistenza · PIL variabile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Previsioni Los Angeles 2028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78638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allenato su 1968-2020 — prev_medals = dati Paris 2024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70102036"/>
              </p:ext>
            </p:extLst>
          </p:nvPr>
        </p:nvGraphicFramePr>
        <p:xfrm>
          <a:off x="256032" y="1170432"/>
          <a:ext cx="6766560" cy="3730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205472" y="1170432"/>
            <a:ext cx="1682496" cy="877824"/>
          </a:xfrm>
          <a:prstGeom prst="rect">
            <a:avLst/>
          </a:prstGeom>
          <a:solidFill>
            <a:srgbClr val="112038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7205472" y="1261872"/>
            <a:ext cx="16824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205472" y="1810512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previste LA 2028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(+7 vs Paris 2024)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205472" y="2157984"/>
            <a:ext cx="1682496" cy="877824"/>
          </a:xfrm>
          <a:prstGeom prst="rect">
            <a:avLst/>
          </a:prstGeom>
          <a:solidFill>
            <a:srgbClr val="112038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7205472" y="2249424"/>
            <a:ext cx="16824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205472" y="2798064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Effetto host USA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stimato dal modello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205472" y="3145536"/>
            <a:ext cx="1682496" cy="877824"/>
          </a:xfrm>
          <a:prstGeom prst="rect">
            <a:avLst/>
          </a:prstGeom>
          <a:solidFill>
            <a:srgbClr val="112038"/>
          </a:solidFill>
          <a:ln w="25400">
            <a:solidFill>
              <a:srgbClr val="1A6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7205472" y="3236976"/>
            <a:ext cx="16824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±8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7205472" y="3785616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 medio modello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(MAE test set)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205472" y="4133088"/>
            <a:ext cx="1682496" cy="877824"/>
          </a:xfrm>
          <a:prstGeom prst="rect">
            <a:avLst/>
          </a:prstGeom>
          <a:solidFill>
            <a:srgbClr val="112038"/>
          </a:solidFill>
          <a:ln w="254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7205472" y="4224528"/>
            <a:ext cx="168249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R²=0.83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7205472" y="4773168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Accuratezza modello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Tokyo 2020 out-of-sample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 — I Tre Notebook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78638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PIL ai modelli predittivi: risposta alla domanda di ricerca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2743200" cy="2331720"/>
          </a:xfrm>
          <a:prstGeom prst="rect">
            <a:avLst/>
          </a:prstGeom>
          <a:solidFill>
            <a:srgbClr val="112038"/>
          </a:solidFill>
          <a:ln w="25400">
            <a:solidFill>
              <a:srgbClr val="1A6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56032" y="1170432"/>
            <a:ext cx="2743200" cy="530352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47472" y="120700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NB1 — Esplorazione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1792224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totale → medaglie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0.68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(proxy economico)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62656" y="201168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182112" y="1170432"/>
            <a:ext cx="2743200" cy="2331720"/>
          </a:xfrm>
          <a:prstGeom prst="rect">
            <a:avLst/>
          </a:prstGeom>
          <a:solidFill>
            <a:srgbClr val="112038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3182112" y="1170432"/>
            <a:ext cx="274320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273552" y="120700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NB2 — Investimento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73552" y="1792224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Spesa élite → medaglie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0.85-0.95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(variabile reale)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88736" y="201168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108192" y="1170432"/>
            <a:ext cx="2743200" cy="2331720"/>
          </a:xfrm>
          <a:prstGeom prst="rect">
            <a:avLst/>
          </a:prstGeom>
          <a:solidFill>
            <a:srgbClr val="112038"/>
          </a:solidFill>
          <a:ln w="254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6108192" y="1170432"/>
            <a:ext cx="274320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6199632" y="120700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NB3 — Modelli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99632" y="1792224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0.83 out-of-sample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Previsioni LA 2028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" y="3657600"/>
            <a:ext cx="8631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Risposta alla domanda di ricerca: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6032" y="4005072"/>
            <a:ext cx="86319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investimenti in infrastrutture sportive producono medaglie olimpiche. Il segnale è consistente su più livelli di analisi (cross-nazione SPLISS, longitudinale UK Sport, per disciplina) con un lag di 4-8 anni tra investimento e risultato.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2378f6b-f1b0-4815-a8da-8a787c8cf5d3}" enabled="1" method="Privileged" siteId="{028226e0-99ea-4fab-9d1b-daa440c9e28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617</Words>
  <Application>Microsoft Office PowerPoint</Application>
  <PresentationFormat>Presentazione su schermo (16:9)</PresentationFormat>
  <Paragraphs>94</Paragraphs>
  <Slides>7</Slides>
  <Notes>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Pascuzzi Giuseppe</cp:lastModifiedBy>
  <cp:revision>3</cp:revision>
  <dcterms:created xsi:type="dcterms:W3CDTF">2026-06-25T12:57:26Z</dcterms:created>
  <dcterms:modified xsi:type="dcterms:W3CDTF">2026-06-25T13:16:34Z</dcterms:modified>
</cp:coreProperties>
</file>