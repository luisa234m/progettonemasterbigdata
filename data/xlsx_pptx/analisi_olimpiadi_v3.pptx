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notesSlides/notesSlide11.xml" ContentType="application/vnd.openxmlformats-officedocument.presentationml.notesSlide+xml"/>
  <Override PartName="/ppt/charts/chart10.xml" ContentType="application/vnd.openxmlformats-officedocument.drawingml.chart+xml"/>
  <Override PartName="/ppt/notesSlides/notesSlide12.xml" ContentType="application/vnd.openxmlformats-officedocument.presentationml.notesSlide+xml"/>
  <Override PartName="/ppt/charts/chart11.xml" ContentType="application/vnd.openxmlformats-officedocument.drawingml.chart+xml"/>
  <Override PartName="/ppt/notesSlides/notesSlide13.xml" ContentType="application/vnd.openxmlformats-officedocument.presentationml.notesSlide+xml"/>
  <Override PartName="/ppt/charts/chart12.xml" ContentType="application/vnd.openxmlformats-officedocument.drawingml.chart+xml"/>
  <Override PartName="/ppt/notesSlides/notesSlide14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27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rgbClr val="000000"/>
                </a:solidFill>
                <a:latin typeface="Arial"/>
              </a:rPr>
              <a:t>Composizione per tipo di giochi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tipo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6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B8C-4674-8CA7-985CE29D719E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B8C-4674-8CA7-985CE29D719E}"/>
              </c:ext>
            </c:extLst>
          </c:dPt>
          <c:cat>
            <c:strRef>
              <c:f>Sheet1!$A$2:$A$3</c:f>
              <c:strCache>
                <c:ptCount val="2"/>
                <c:pt idx="0">
                  <c:v>Estive (53%)</c:v>
                </c:pt>
                <c:pt idx="1">
                  <c:v>Invernali (47%)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</c:v>
                </c:pt>
                <c:pt idx="1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B8C-4674-8CA7-985CE29D71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rgbClr val="000000"/>
                </a:solidFill>
                <a:latin typeface="Arial"/>
              </a:rPr>
              <a:t>Dati mancanti per variabile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mancanti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D1-489A-B085-2B10FFD3C43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9D1-489A-B085-2B10FFD3C43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9D1-489A-B085-2B10FFD3C43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9D1-489A-B085-2B10FFD3C436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D1-489A-B085-2B10FFD3C436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9D1-489A-B085-2B10FFD3C436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9D1-489A-B085-2B10FFD3C436}"/>
              </c:ext>
            </c:extLst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9D1-489A-B085-2B10FFD3C436}"/>
              </c:ext>
            </c:extLst>
          </c:dPt>
          <c:dPt>
            <c:idx val="8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69D1-489A-B085-2B10FFD3C43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Spesa militare</c:v>
                </c:pt>
                <c:pt idx="1">
                  <c:v>Domanda assicur.</c:v>
                </c:pt>
                <c:pt idx="2">
                  <c:v>Istruzione prim.</c:v>
                </c:pt>
                <c:pt idx="3">
                  <c:v>Settore servizi</c:v>
                </c:pt>
                <c:pt idx="4">
                  <c:v>Crescita PIL</c:v>
                </c:pt>
                <c:pt idx="5">
                  <c:v>PIL pro capite</c:v>
                </c:pt>
                <c:pt idx="6">
                  <c:v>PIL totale</c:v>
                </c:pt>
                <c:pt idx="7">
                  <c:v>Aspett. vita</c:v>
                </c:pt>
                <c:pt idx="8">
                  <c:v>Popolazione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42</c:v>
                </c:pt>
                <c:pt idx="1">
                  <c:v>41</c:v>
                </c:pt>
                <c:pt idx="2">
                  <c:v>40</c:v>
                </c:pt>
                <c:pt idx="3">
                  <c:v>41</c:v>
                </c:pt>
                <c:pt idx="4">
                  <c:v>20</c:v>
                </c:pt>
                <c:pt idx="5">
                  <c:v>19</c:v>
                </c:pt>
                <c:pt idx="6">
                  <c:v>19</c:v>
                </c:pt>
                <c:pt idx="7">
                  <c:v>5</c:v>
                </c:pt>
                <c:pt idx="8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69D1-489A-B085-2B10FFD3C4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rgbClr val="000000"/>
                </a:solidFill>
                <a:latin typeface="Arial"/>
              </a:rPr>
              <a:t>Distribuzione medaglie (vincitori)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N. paesi vincitori</c:v>
                </c:pt>
              </c:strCache>
            </c:strRef>
          </c:tx>
          <c:spPr>
            <a:solidFill>
              <a:srgbClr val="1A6B9A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2–3</c:v>
                </c:pt>
                <c:pt idx="2">
                  <c:v>4–5</c:v>
                </c:pt>
                <c:pt idx="3">
                  <c:v>6–10</c:v>
                </c:pt>
                <c:pt idx="4">
                  <c:v>11–20</c:v>
                </c:pt>
                <c:pt idx="5">
                  <c:v>21–50</c:v>
                </c:pt>
                <c:pt idx="6">
                  <c:v>51–100</c:v>
                </c:pt>
                <c:pt idx="7">
                  <c:v>101+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196</c:v>
                </c:pt>
                <c:pt idx="1">
                  <c:v>173</c:v>
                </c:pt>
                <c:pt idx="2">
                  <c:v>112</c:v>
                </c:pt>
                <c:pt idx="3">
                  <c:v>140</c:v>
                </c:pt>
                <c:pt idx="4">
                  <c:v>123</c:v>
                </c:pt>
                <c:pt idx="5">
                  <c:v>113</c:v>
                </c:pt>
                <c:pt idx="6">
                  <c:v>64</c:v>
                </c:pt>
                <c:pt idx="7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4C-4CBE-B19E-47CF8177F0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rgbClr val="000000"/>
                </a:solidFill>
                <a:latin typeface="Arial"/>
              </a:rPr>
              <a:t>Pearson r × 100 (più alto = più correlato)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 × 100</c:v>
                </c:pt>
              </c:strCache>
            </c:strRef>
          </c:tx>
          <c:spPr>
            <a:solidFill>
              <a:srgbClr val="1A6B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F69-4D6C-AA3F-46615F5AAB7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F69-4D6C-AA3F-46615F5AAB7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F69-4D6C-AA3F-46615F5AAB7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F69-4D6C-AA3F-46615F5AAB72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F69-4D6C-AA3F-46615F5AAB7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PIL pro capite (log)</c:v>
                </c:pt>
                <c:pt idx="1">
                  <c:v>% Urbanizzazione</c:v>
                </c:pt>
                <c:pt idx="2">
                  <c:v>Aspettativa di vita</c:v>
                </c:pt>
                <c:pt idx="3">
                  <c:v>log(Popolazione)</c:v>
                </c:pt>
                <c:pt idx="4">
                  <c:v>log(PIL totale)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</c:v>
                </c:pt>
                <c:pt idx="1">
                  <c:v>23</c:v>
                </c:pt>
                <c:pt idx="2">
                  <c:v>27</c:v>
                </c:pt>
                <c:pt idx="3">
                  <c:v>36</c:v>
                </c:pt>
                <c:pt idx="4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F69-4D6C-AA3F-46615F5AAB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rgbClr val="000000"/>
                </a:solidFill>
                <a:latin typeface="Arial"/>
              </a:rPr>
              <a:t>r × 100 per decennio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log(PIL totale)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1960s</c:v>
                </c:pt>
                <c:pt idx="1">
                  <c:v>1970s</c:v>
                </c:pt>
                <c:pt idx="2">
                  <c:v>1980s</c:v>
                </c:pt>
                <c:pt idx="3">
                  <c:v>1990s</c:v>
                </c:pt>
                <c:pt idx="4">
                  <c:v>2000s</c:v>
                </c:pt>
                <c:pt idx="5">
                  <c:v>2010s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</c:v>
                </c:pt>
                <c:pt idx="1">
                  <c:v>53</c:v>
                </c:pt>
                <c:pt idx="2">
                  <c:v>50</c:v>
                </c:pt>
                <c:pt idx="3">
                  <c:v>56</c:v>
                </c:pt>
                <c:pt idx="4">
                  <c:v>56</c:v>
                </c:pt>
                <c:pt idx="5">
                  <c:v>63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666-45C9-B0E2-E55D82391C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log(Popolazione)</c:v>
                </c:pt>
              </c:strCache>
            </c:strRef>
          </c:tx>
          <c:spPr>
            <a:ln w="38100" cap="flat">
              <a:solidFill>
                <a:srgbClr val="1A6B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6B9A"/>
              </a:solidFill>
              <a:ln w="9525" cap="flat">
                <a:solidFill>
                  <a:srgbClr val="1A6B9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1960s</c:v>
                </c:pt>
                <c:pt idx="1">
                  <c:v>1970s</c:v>
                </c:pt>
                <c:pt idx="2">
                  <c:v>1980s</c:v>
                </c:pt>
                <c:pt idx="3">
                  <c:v>1990s</c:v>
                </c:pt>
                <c:pt idx="4">
                  <c:v>2000s</c:v>
                </c:pt>
                <c:pt idx="5">
                  <c:v>2010s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38</c:v>
                </c:pt>
                <c:pt idx="1">
                  <c:v>34</c:v>
                </c:pt>
                <c:pt idx="2">
                  <c:v>29</c:v>
                </c:pt>
                <c:pt idx="3">
                  <c:v>31</c:v>
                </c:pt>
                <c:pt idx="4">
                  <c:v>34</c:v>
                </c:pt>
                <c:pt idx="5">
                  <c:v>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666-45C9-B0E2-E55D82391C3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Aspettativa vita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1960s</c:v>
                </c:pt>
                <c:pt idx="1">
                  <c:v>1970s</c:v>
                </c:pt>
                <c:pt idx="2">
                  <c:v>1980s</c:v>
                </c:pt>
                <c:pt idx="3">
                  <c:v>1990s</c:v>
                </c:pt>
                <c:pt idx="4">
                  <c:v>2000s</c:v>
                </c:pt>
                <c:pt idx="5">
                  <c:v>2010s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30</c:v>
                </c:pt>
                <c:pt idx="1">
                  <c:v>22</c:v>
                </c:pt>
                <c:pt idx="2">
                  <c:v>18</c:v>
                </c:pt>
                <c:pt idx="3">
                  <c:v>24</c:v>
                </c:pt>
                <c:pt idx="4">
                  <c:v>25</c:v>
                </c:pt>
                <c:pt idx="5">
                  <c:v>28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4666-45C9-B0E2-E55D82391C3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log(PIL p.c.)</c:v>
                </c:pt>
              </c:strCache>
            </c:strRef>
          </c:tx>
          <c:spPr>
            <a:ln w="38100" cap="flat">
              <a:solidFill>
                <a:srgbClr val="9333E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333EA"/>
              </a:solidFill>
              <a:ln w="9525" cap="flat">
                <a:solidFill>
                  <a:srgbClr val="9333E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1960s</c:v>
                </c:pt>
                <c:pt idx="1">
                  <c:v>1970s</c:v>
                </c:pt>
                <c:pt idx="2">
                  <c:v>1980s</c:v>
                </c:pt>
                <c:pt idx="3">
                  <c:v>1990s</c:v>
                </c:pt>
                <c:pt idx="4">
                  <c:v>2000s</c:v>
                </c:pt>
                <c:pt idx="5">
                  <c:v>2010s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25</c:v>
                </c:pt>
                <c:pt idx="1">
                  <c:v>19</c:v>
                </c:pt>
                <c:pt idx="2">
                  <c:v>16</c:v>
                </c:pt>
                <c:pt idx="3">
                  <c:v>20</c:v>
                </c:pt>
                <c:pt idx="4">
                  <c:v>22</c:v>
                </c:pt>
                <c:pt idx="5">
                  <c:v>26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4666-45C9-B0E2-E55D82391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chemeClr val="bg1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chemeClr val="bg1"/>
                </a:solidFill>
                <a:latin typeface="Arial"/>
              </a:rPr>
              <a:t>Medaglie totali assegnate per edizione estiva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Medaglie totali</c:v>
                </c:pt>
              </c:strCache>
            </c:strRef>
          </c:tx>
          <c:spPr>
            <a:ln w="444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1964</c:v>
                </c:pt>
                <c:pt idx="1">
                  <c:v>1968</c:v>
                </c:pt>
                <c:pt idx="2">
                  <c:v>1972</c:v>
                </c:pt>
                <c:pt idx="3">
                  <c:v>1976</c:v>
                </c:pt>
                <c:pt idx="4">
                  <c:v>1980</c:v>
                </c:pt>
                <c:pt idx="5">
                  <c:v>1984</c:v>
                </c:pt>
                <c:pt idx="6">
                  <c:v>1988</c:v>
                </c:pt>
                <c:pt idx="7">
                  <c:v>1992</c:v>
                </c:pt>
                <c:pt idx="8">
                  <c:v>1996</c:v>
                </c:pt>
                <c:pt idx="9">
                  <c:v>2000</c:v>
                </c:pt>
                <c:pt idx="10">
                  <c:v>2004</c:v>
                </c:pt>
                <c:pt idx="11">
                  <c:v>2008</c:v>
                </c:pt>
                <c:pt idx="12">
                  <c:v>2012</c:v>
                </c:pt>
                <c:pt idx="13">
                  <c:v>2016</c:v>
                </c:pt>
                <c:pt idx="14">
                  <c:v>2020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504</c:v>
                </c:pt>
                <c:pt idx="1">
                  <c:v>527</c:v>
                </c:pt>
                <c:pt idx="2">
                  <c:v>600</c:v>
                </c:pt>
                <c:pt idx="3">
                  <c:v>613</c:v>
                </c:pt>
                <c:pt idx="4">
                  <c:v>631</c:v>
                </c:pt>
                <c:pt idx="5">
                  <c:v>688</c:v>
                </c:pt>
                <c:pt idx="6">
                  <c:v>739</c:v>
                </c:pt>
                <c:pt idx="7">
                  <c:v>815</c:v>
                </c:pt>
                <c:pt idx="8">
                  <c:v>842</c:v>
                </c:pt>
                <c:pt idx="9">
                  <c:v>927</c:v>
                </c:pt>
                <c:pt idx="10">
                  <c:v>926</c:v>
                </c:pt>
                <c:pt idx="11">
                  <c:v>958</c:v>
                </c:pt>
                <c:pt idx="12">
                  <c:v>960</c:v>
                </c:pt>
                <c:pt idx="13">
                  <c:v>972</c:v>
                </c:pt>
                <c:pt idx="14">
                  <c:v>1080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FEC-4633-BC95-A621AB914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8183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chemeClr val="bg1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chemeClr val="bg1"/>
                </a:solidFill>
                <a:latin typeface="Arial"/>
              </a:rPr>
              <a:t>Medaglie totali per paese — olimpiadi estive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Medaglie totali</c:v>
                </c:pt>
              </c:strCache>
            </c:strRef>
          </c:tx>
          <c:spPr>
            <a:solidFill>
              <a:srgbClr val="1A6B9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6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A7C-4F08-85D5-84920A1BDDC0}"/>
              </c:ext>
            </c:extLst>
          </c:dPt>
          <c:dPt>
            <c:idx val="1"/>
            <c:invertIfNegative val="0"/>
            <c:bubble3D val="0"/>
            <c:spPr>
              <a:solidFill>
                <a:srgbClr val="1A6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7C-4F08-85D5-84920A1BDDC0}"/>
              </c:ext>
            </c:extLst>
          </c:dPt>
          <c:dPt>
            <c:idx val="2"/>
            <c:invertIfNegative val="0"/>
            <c:bubble3D val="0"/>
            <c:spPr>
              <a:solidFill>
                <a:srgbClr val="1A6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A7C-4F08-85D5-84920A1BDDC0}"/>
              </c:ext>
            </c:extLst>
          </c:dPt>
          <c:dPt>
            <c:idx val="3"/>
            <c:invertIfNegative val="0"/>
            <c:bubble3D val="0"/>
            <c:spPr>
              <a:solidFill>
                <a:srgbClr val="1A6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A7C-4F08-85D5-84920A1BDDC0}"/>
              </c:ext>
            </c:extLst>
          </c:dPt>
          <c:dPt>
            <c:idx val="4"/>
            <c:invertIfNegative val="0"/>
            <c:bubble3D val="0"/>
            <c:spPr>
              <a:solidFill>
                <a:srgbClr val="008C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A7C-4F08-85D5-84920A1BDDC0}"/>
              </c:ext>
            </c:extLst>
          </c:dPt>
          <c:dPt>
            <c:idx val="5"/>
            <c:invertIfNegative val="0"/>
            <c:bubble3D val="0"/>
            <c:spPr>
              <a:solidFill>
                <a:srgbClr val="1A6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A7C-4F08-85D5-84920A1BDDC0}"/>
              </c:ext>
            </c:extLst>
          </c:dPt>
          <c:dPt>
            <c:idx val="6"/>
            <c:invertIfNegative val="0"/>
            <c:bubble3D val="0"/>
            <c:spPr>
              <a:solidFill>
                <a:srgbClr val="1A6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A7C-4F08-85D5-84920A1BDDC0}"/>
              </c:ext>
            </c:extLst>
          </c:dPt>
          <c:dPt>
            <c:idx val="7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A7C-4F08-85D5-84920A1BDDC0}"/>
              </c:ext>
            </c:extLst>
          </c:dPt>
          <c:dPt>
            <c:idx val="8"/>
            <c:invertIfNegative val="0"/>
            <c:bubble3D val="0"/>
            <c:spPr>
              <a:solidFill>
                <a:srgbClr val="1A6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A7C-4F08-85D5-84920A1BDDC0}"/>
              </c:ext>
            </c:extLst>
          </c:dPt>
          <c:dPt>
            <c:idx val="9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0A7C-4F08-85D5-84920A1BDDC0}"/>
              </c:ext>
            </c:extLst>
          </c:dPt>
          <c:dPt>
            <c:idx val="10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0A7C-4F08-85D5-84920A1BDDC0}"/>
              </c:ext>
            </c:extLst>
          </c:dPt>
          <c:dPt>
            <c:idx val="1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0A7C-4F08-85D5-84920A1BDDC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Romania</c:v>
                </c:pt>
                <c:pt idx="1">
                  <c:v>Corea del Sud</c:v>
                </c:pt>
                <c:pt idx="2">
                  <c:v>Giappone</c:v>
                </c:pt>
                <c:pt idx="3">
                  <c:v>Francia</c:v>
                </c:pt>
                <c:pt idx="4">
                  <c:v>Italia</c:v>
                </c:pt>
                <c:pt idx="5">
                  <c:v>Australia</c:v>
                </c:pt>
                <c:pt idx="6">
                  <c:v>Gran Bretagna</c:v>
                </c:pt>
                <c:pt idx="7">
                  <c:v>Russia</c:v>
                </c:pt>
                <c:pt idx="8">
                  <c:v>Germania</c:v>
                </c:pt>
                <c:pt idx="9">
                  <c:v>Cina</c:v>
                </c:pt>
                <c:pt idx="10">
                  <c:v>URSS</c:v>
                </c:pt>
                <c:pt idx="11">
                  <c:v>USA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279</c:v>
                </c:pt>
                <c:pt idx="1">
                  <c:v>281</c:v>
                </c:pt>
                <c:pt idx="2">
                  <c:v>407</c:v>
                </c:pt>
                <c:pt idx="3">
                  <c:v>400</c:v>
                </c:pt>
                <c:pt idx="4">
                  <c:v>378</c:v>
                </c:pt>
                <c:pt idx="5">
                  <c:v>436</c:v>
                </c:pt>
                <c:pt idx="6">
                  <c:v>484</c:v>
                </c:pt>
                <c:pt idx="7">
                  <c:v>423</c:v>
                </c:pt>
                <c:pt idx="8">
                  <c:v>466</c:v>
                </c:pt>
                <c:pt idx="9">
                  <c:v>636</c:v>
                </c:pt>
                <c:pt idx="10">
                  <c:v>738</c:v>
                </c:pt>
                <c:pt idx="11">
                  <c:v>1506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0A7C-4F08-85D5-84920A1BDD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81830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rgbClr val="000000"/>
                </a:solidFill>
                <a:latin typeface="Arial"/>
              </a:rPr>
              <a:t>Medaglie per edizione — Top 5 paesi storici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</c:v>
                </c:pt>
              </c:strCache>
            </c:strRef>
          </c:tx>
          <c:spPr>
            <a:ln w="31750" cap="flat">
              <a:solidFill>
                <a:srgbClr val="1A6B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6B9A"/>
              </a:solidFill>
              <a:ln w="9525" cap="flat">
                <a:solidFill>
                  <a:srgbClr val="1A6B9A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1964</c:v>
                </c:pt>
                <c:pt idx="1">
                  <c:v>1968</c:v>
                </c:pt>
                <c:pt idx="2">
                  <c:v>1972</c:v>
                </c:pt>
                <c:pt idx="3">
                  <c:v>1976</c:v>
                </c:pt>
                <c:pt idx="4">
                  <c:v>1980</c:v>
                </c:pt>
                <c:pt idx="5">
                  <c:v>1984</c:v>
                </c:pt>
                <c:pt idx="6">
                  <c:v>1988</c:v>
                </c:pt>
                <c:pt idx="7">
                  <c:v>1992</c:v>
                </c:pt>
                <c:pt idx="8">
                  <c:v>1996</c:v>
                </c:pt>
                <c:pt idx="9">
                  <c:v>2000</c:v>
                </c:pt>
                <c:pt idx="10">
                  <c:v>2004</c:v>
                </c:pt>
                <c:pt idx="11">
                  <c:v>2008</c:v>
                </c:pt>
                <c:pt idx="12">
                  <c:v>2012</c:v>
                </c:pt>
                <c:pt idx="13">
                  <c:v>2016</c:v>
                </c:pt>
                <c:pt idx="14">
                  <c:v>2020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90</c:v>
                </c:pt>
                <c:pt idx="1">
                  <c:v>107</c:v>
                </c:pt>
                <c:pt idx="2">
                  <c:v>94</c:v>
                </c:pt>
                <c:pt idx="3">
                  <c:v>94</c:v>
                </c:pt>
                <c:pt idx="4">
                  <c:v>0</c:v>
                </c:pt>
                <c:pt idx="5">
                  <c:v>174</c:v>
                </c:pt>
                <c:pt idx="6">
                  <c:v>88</c:v>
                </c:pt>
                <c:pt idx="7">
                  <c:v>108</c:v>
                </c:pt>
                <c:pt idx="8">
                  <c:v>101</c:v>
                </c:pt>
                <c:pt idx="9">
                  <c:v>93</c:v>
                </c:pt>
                <c:pt idx="10">
                  <c:v>103</c:v>
                </c:pt>
                <c:pt idx="11">
                  <c:v>110</c:v>
                </c:pt>
                <c:pt idx="12">
                  <c:v>104</c:v>
                </c:pt>
                <c:pt idx="13">
                  <c:v>121</c:v>
                </c:pt>
                <c:pt idx="14">
                  <c:v>113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63D-4568-9E38-76D3E4FF6E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URSS / Russia</c:v>
                </c:pt>
              </c:strCache>
            </c:strRef>
          </c:tx>
          <c:spPr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1964</c:v>
                </c:pt>
                <c:pt idx="1">
                  <c:v>1968</c:v>
                </c:pt>
                <c:pt idx="2">
                  <c:v>1972</c:v>
                </c:pt>
                <c:pt idx="3">
                  <c:v>1976</c:v>
                </c:pt>
                <c:pt idx="4">
                  <c:v>1980</c:v>
                </c:pt>
                <c:pt idx="5">
                  <c:v>1984</c:v>
                </c:pt>
                <c:pt idx="6">
                  <c:v>1988</c:v>
                </c:pt>
                <c:pt idx="7">
                  <c:v>1992</c:v>
                </c:pt>
                <c:pt idx="8">
                  <c:v>1996</c:v>
                </c:pt>
                <c:pt idx="9">
                  <c:v>2000</c:v>
                </c:pt>
                <c:pt idx="10">
                  <c:v>2004</c:v>
                </c:pt>
                <c:pt idx="11">
                  <c:v>2008</c:v>
                </c:pt>
                <c:pt idx="12">
                  <c:v>2012</c:v>
                </c:pt>
                <c:pt idx="13">
                  <c:v>2016</c:v>
                </c:pt>
                <c:pt idx="14">
                  <c:v>2020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96</c:v>
                </c:pt>
                <c:pt idx="1">
                  <c:v>91</c:v>
                </c:pt>
                <c:pt idx="2">
                  <c:v>99</c:v>
                </c:pt>
                <c:pt idx="3">
                  <c:v>125</c:v>
                </c:pt>
                <c:pt idx="4">
                  <c:v>195</c:v>
                </c:pt>
                <c:pt idx="5">
                  <c:v>0</c:v>
                </c:pt>
                <c:pt idx="6">
                  <c:v>132</c:v>
                </c:pt>
                <c:pt idx="7">
                  <c:v>45</c:v>
                </c:pt>
                <c:pt idx="8">
                  <c:v>63</c:v>
                </c:pt>
                <c:pt idx="9">
                  <c:v>89</c:v>
                </c:pt>
                <c:pt idx="10">
                  <c:v>92</c:v>
                </c:pt>
                <c:pt idx="11">
                  <c:v>73</c:v>
                </c:pt>
                <c:pt idx="12">
                  <c:v>82</c:v>
                </c:pt>
                <c:pt idx="13">
                  <c:v>56</c:v>
                </c:pt>
                <c:pt idx="14">
                  <c:v>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63D-4568-9E38-76D3E4FF6E3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Cina</c:v>
                </c:pt>
              </c:strCache>
            </c:strRef>
          </c:tx>
          <c:spPr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1964</c:v>
                </c:pt>
                <c:pt idx="1">
                  <c:v>1968</c:v>
                </c:pt>
                <c:pt idx="2">
                  <c:v>1972</c:v>
                </c:pt>
                <c:pt idx="3">
                  <c:v>1976</c:v>
                </c:pt>
                <c:pt idx="4">
                  <c:v>1980</c:v>
                </c:pt>
                <c:pt idx="5">
                  <c:v>1984</c:v>
                </c:pt>
                <c:pt idx="6">
                  <c:v>1988</c:v>
                </c:pt>
                <c:pt idx="7">
                  <c:v>1992</c:v>
                </c:pt>
                <c:pt idx="8">
                  <c:v>1996</c:v>
                </c:pt>
                <c:pt idx="9">
                  <c:v>2000</c:v>
                </c:pt>
                <c:pt idx="10">
                  <c:v>2004</c:v>
                </c:pt>
                <c:pt idx="11">
                  <c:v>2008</c:v>
                </c:pt>
                <c:pt idx="12">
                  <c:v>2012</c:v>
                </c:pt>
                <c:pt idx="13">
                  <c:v>2016</c:v>
                </c:pt>
                <c:pt idx="14">
                  <c:v>2020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32</c:v>
                </c:pt>
                <c:pt idx="6">
                  <c:v>28</c:v>
                </c:pt>
                <c:pt idx="7">
                  <c:v>54</c:v>
                </c:pt>
                <c:pt idx="8">
                  <c:v>50</c:v>
                </c:pt>
                <c:pt idx="9">
                  <c:v>59</c:v>
                </c:pt>
                <c:pt idx="10">
                  <c:v>63</c:v>
                </c:pt>
                <c:pt idx="11">
                  <c:v>100</c:v>
                </c:pt>
                <c:pt idx="12">
                  <c:v>88</c:v>
                </c:pt>
                <c:pt idx="13">
                  <c:v>70</c:v>
                </c:pt>
                <c:pt idx="14">
                  <c:v>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163D-4568-9E38-76D3E4FF6E3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 Bretagna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1964</c:v>
                </c:pt>
                <c:pt idx="1">
                  <c:v>1968</c:v>
                </c:pt>
                <c:pt idx="2">
                  <c:v>1972</c:v>
                </c:pt>
                <c:pt idx="3">
                  <c:v>1976</c:v>
                </c:pt>
                <c:pt idx="4">
                  <c:v>1980</c:v>
                </c:pt>
                <c:pt idx="5">
                  <c:v>1984</c:v>
                </c:pt>
                <c:pt idx="6">
                  <c:v>1988</c:v>
                </c:pt>
                <c:pt idx="7">
                  <c:v>1992</c:v>
                </c:pt>
                <c:pt idx="8">
                  <c:v>1996</c:v>
                </c:pt>
                <c:pt idx="9">
                  <c:v>2000</c:v>
                </c:pt>
                <c:pt idx="10">
                  <c:v>2004</c:v>
                </c:pt>
                <c:pt idx="11">
                  <c:v>2008</c:v>
                </c:pt>
                <c:pt idx="12">
                  <c:v>2012</c:v>
                </c:pt>
                <c:pt idx="13">
                  <c:v>2016</c:v>
                </c:pt>
                <c:pt idx="14">
                  <c:v>2020</c:v>
                </c:pt>
              </c:strCache>
            </c: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18</c:v>
                </c:pt>
                <c:pt idx="1">
                  <c:v>13</c:v>
                </c:pt>
                <c:pt idx="2">
                  <c:v>18</c:v>
                </c:pt>
                <c:pt idx="3">
                  <c:v>13</c:v>
                </c:pt>
                <c:pt idx="4">
                  <c:v>21</c:v>
                </c:pt>
                <c:pt idx="5">
                  <c:v>37</c:v>
                </c:pt>
                <c:pt idx="6">
                  <c:v>24</c:v>
                </c:pt>
                <c:pt idx="7">
                  <c:v>20</c:v>
                </c:pt>
                <c:pt idx="8">
                  <c:v>15</c:v>
                </c:pt>
                <c:pt idx="9">
                  <c:v>28</c:v>
                </c:pt>
                <c:pt idx="10">
                  <c:v>30</c:v>
                </c:pt>
                <c:pt idx="11">
                  <c:v>47</c:v>
                </c:pt>
                <c:pt idx="12">
                  <c:v>65</c:v>
                </c:pt>
                <c:pt idx="13">
                  <c:v>67</c:v>
                </c:pt>
                <c:pt idx="14">
                  <c:v>65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163D-4568-9E38-76D3E4FF6E3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Germania</c:v>
                </c:pt>
              </c:strCache>
            </c:strRef>
          </c:tx>
          <c:spPr>
            <a:ln w="3175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1964</c:v>
                </c:pt>
                <c:pt idx="1">
                  <c:v>1968</c:v>
                </c:pt>
                <c:pt idx="2">
                  <c:v>1972</c:v>
                </c:pt>
                <c:pt idx="3">
                  <c:v>1976</c:v>
                </c:pt>
                <c:pt idx="4">
                  <c:v>1980</c:v>
                </c:pt>
                <c:pt idx="5">
                  <c:v>1984</c:v>
                </c:pt>
                <c:pt idx="6">
                  <c:v>1988</c:v>
                </c:pt>
                <c:pt idx="7">
                  <c:v>1992</c:v>
                </c:pt>
                <c:pt idx="8">
                  <c:v>1996</c:v>
                </c:pt>
                <c:pt idx="9">
                  <c:v>2000</c:v>
                </c:pt>
                <c:pt idx="10">
                  <c:v>2004</c:v>
                </c:pt>
                <c:pt idx="11">
                  <c:v>2008</c:v>
                </c:pt>
                <c:pt idx="12">
                  <c:v>2012</c:v>
                </c:pt>
                <c:pt idx="13">
                  <c:v>2016</c:v>
                </c:pt>
                <c:pt idx="14">
                  <c:v>2020</c:v>
                </c:pt>
              </c:strCache>
            </c:strRef>
          </c:cat>
          <c:val>
            <c:numRef>
              <c:f>Sheet1!$F$2:$F$16</c:f>
              <c:numCache>
                <c:formatCode>General</c:formatCode>
                <c:ptCount val="15"/>
                <c:pt idx="0">
                  <c:v>50</c:v>
                </c:pt>
                <c:pt idx="1">
                  <c:v>26</c:v>
                </c:pt>
                <c:pt idx="2">
                  <c:v>77</c:v>
                </c:pt>
                <c:pt idx="3">
                  <c:v>39</c:v>
                </c:pt>
                <c:pt idx="4">
                  <c:v>26</c:v>
                </c:pt>
                <c:pt idx="5">
                  <c:v>59</c:v>
                </c:pt>
                <c:pt idx="6">
                  <c:v>60</c:v>
                </c:pt>
                <c:pt idx="7">
                  <c:v>82</c:v>
                </c:pt>
                <c:pt idx="8">
                  <c:v>65</c:v>
                </c:pt>
                <c:pt idx="9">
                  <c:v>56</c:v>
                </c:pt>
                <c:pt idx="10">
                  <c:v>48</c:v>
                </c:pt>
                <c:pt idx="11">
                  <c:v>41</c:v>
                </c:pt>
                <c:pt idx="12">
                  <c:v>44</c:v>
                </c:pt>
                <c:pt idx="13">
                  <c:v>42</c:v>
                </c:pt>
                <c:pt idx="14">
                  <c:v>37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163D-4568-9E38-76D3E4FF6E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rgbClr val="000000"/>
                </a:solidFill>
                <a:latin typeface="Arial"/>
              </a:rPr>
              <a:t>Δ medaglie medie per edizione (2004-2020 vs 1964-1988)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medaglie medie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Spagna</c:v>
                </c:pt>
                <c:pt idx="1">
                  <c:v>Giappone</c:v>
                </c:pt>
                <c:pt idx="2">
                  <c:v>Ucraina</c:v>
                </c:pt>
                <c:pt idx="3">
                  <c:v>Corea del Sud</c:v>
                </c:pt>
                <c:pt idx="4">
                  <c:v>Francia</c:v>
                </c:pt>
                <c:pt idx="5">
                  <c:v>Australia</c:v>
                </c:pt>
                <c:pt idx="6">
                  <c:v>Germania</c:v>
                </c:pt>
                <c:pt idx="7">
                  <c:v>Gran Bretagna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16.8</c:v>
                </c:pt>
                <c:pt idx="1">
                  <c:v>18.2</c:v>
                </c:pt>
                <c:pt idx="2">
                  <c:v>18.600000000000001</c:v>
                </c:pt>
                <c:pt idx="3">
                  <c:v>23.6</c:v>
                </c:pt>
                <c:pt idx="4">
                  <c:v>24</c:v>
                </c:pt>
                <c:pt idx="5">
                  <c:v>28</c:v>
                </c:pt>
                <c:pt idx="6">
                  <c:v>32.6</c:v>
                </c:pt>
                <c:pt idx="7">
                  <c:v>38.799999999999997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DF-4E7E-98B0-A70048BBA0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rgbClr val="000000"/>
                </a:solidFill>
                <a:latin typeface="Arial"/>
              </a:rPr>
              <a:t>Δ medaglie medie per edizione (2004-2020 vs 1964-1988)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medaglie medie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Svezia</c:v>
                </c:pt>
                <c:pt idx="1">
                  <c:v>Finlandia</c:v>
                </c:pt>
                <c:pt idx="2">
                  <c:v>Romania</c:v>
                </c:pt>
                <c:pt idx="3">
                  <c:v>Polonia</c:v>
                </c:pt>
                <c:pt idx="4">
                  <c:v>Ungheria</c:v>
                </c:pt>
                <c:pt idx="5">
                  <c:v>Bulgaria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</c:v>
                </c:pt>
                <c:pt idx="1">
                  <c:v>-3.8</c:v>
                </c:pt>
                <c:pt idx="2">
                  <c:v>-10.4</c:v>
                </c:pt>
                <c:pt idx="3">
                  <c:v>-12.6</c:v>
                </c:pt>
                <c:pt idx="4">
                  <c:v>-12.6</c:v>
                </c:pt>
                <c:pt idx="5">
                  <c:v>-14.8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3C-424D-8BBD-4BF21D7C71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chemeClr val="bg1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chemeClr val="bg1"/>
                </a:solidFill>
                <a:latin typeface="Arial"/>
              </a:rPr>
              <a:t>Δ medaglie: hosting vs media altre edizioni (stessa nazione)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medaglie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331-4C94-874A-E4AE4C526742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331-4C94-874A-E4AE4C526742}"/>
              </c:ext>
            </c:extLst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331-4C94-874A-E4AE4C526742}"/>
              </c:ext>
            </c:extLst>
          </c:dPt>
          <c:dPt>
            <c:idx val="3"/>
            <c:invertIfNegative val="0"/>
            <c:bubble3D val="0"/>
            <c:spPr>
              <a:solidFill>
                <a:srgbClr val="1A6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331-4C94-874A-E4AE4C526742}"/>
              </c:ext>
            </c:extLst>
          </c:dPt>
          <c:dPt>
            <c:idx val="4"/>
            <c:invertIfNegative val="0"/>
            <c:bubble3D val="0"/>
            <c:spPr>
              <a:solidFill>
                <a:srgbClr val="1A6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331-4C94-874A-E4AE4C526742}"/>
              </c:ext>
            </c:extLst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331-4C94-874A-E4AE4C526742}"/>
              </c:ext>
            </c:extLst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331-4C94-874A-E4AE4C526742}"/>
              </c:ext>
            </c:extLst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331-4C94-874A-E4AE4C526742}"/>
              </c:ext>
            </c:extLst>
          </c:dPt>
          <c:dPt>
            <c:idx val="8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331-4C94-874A-E4AE4C526742}"/>
              </c:ext>
            </c:extLst>
          </c:dPt>
          <c:dPt>
            <c:idx val="9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7331-4C94-874A-E4AE4C526742}"/>
              </c:ext>
            </c:extLst>
          </c:dPt>
          <c:dPt>
            <c:idx val="1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7331-4C94-874A-E4AE4C526742}"/>
              </c:ext>
            </c:extLst>
          </c:dPt>
          <c:dPt>
            <c:idx val="1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7331-4C94-874A-E4AE4C526742}"/>
              </c:ext>
            </c:extLst>
          </c:dPt>
          <c:dPt>
            <c:idx val="1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7331-4C94-874A-E4AE4C52674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Canada 1976</c:v>
                </c:pt>
                <c:pt idx="1">
                  <c:v>W.Germany 1972</c:v>
                </c:pt>
                <c:pt idx="2">
                  <c:v>USA 1996</c:v>
                </c:pt>
                <c:pt idx="3">
                  <c:v>Giappone 1964</c:v>
                </c:pt>
                <c:pt idx="4">
                  <c:v>Messico 1968</c:v>
                </c:pt>
                <c:pt idx="5">
                  <c:v>Brasile 2016</c:v>
                </c:pt>
                <c:pt idx="6">
                  <c:v>Spagna 1992</c:v>
                </c:pt>
                <c:pt idx="7">
                  <c:v>Grecia 2004</c:v>
                </c:pt>
                <c:pt idx="8">
                  <c:v>Australia 2000</c:v>
                </c:pt>
                <c:pt idx="9">
                  <c:v>Giappone 2020</c:v>
                </c:pt>
                <c:pt idx="10">
                  <c:v>Gran Bretagna 2012</c:v>
                </c:pt>
                <c:pt idx="11">
                  <c:v>USA 1984*</c:v>
                </c:pt>
                <c:pt idx="12">
                  <c:v>URSS 1980*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-4.5999999999999996</c:v>
                </c:pt>
                <c:pt idx="1">
                  <c:v>-1</c:v>
                </c:pt>
                <c:pt idx="2">
                  <c:v>-7.1</c:v>
                </c:pt>
                <c:pt idx="3">
                  <c:v>2</c:v>
                </c:pt>
                <c:pt idx="4">
                  <c:v>5.5</c:v>
                </c:pt>
                <c:pt idx="5">
                  <c:v>10.4</c:v>
                </c:pt>
                <c:pt idx="6">
                  <c:v>12.1</c:v>
                </c:pt>
                <c:pt idx="7">
                  <c:v>12.6</c:v>
                </c:pt>
                <c:pt idx="8">
                  <c:v>31</c:v>
                </c:pt>
                <c:pt idx="9">
                  <c:v>33.1</c:v>
                </c:pt>
                <c:pt idx="10">
                  <c:v>35.1</c:v>
                </c:pt>
                <c:pt idx="11">
                  <c:v>71.5</c:v>
                </c:pt>
                <c:pt idx="12">
                  <c:v>86.4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7331-4C94-874A-E4AE4C5267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81830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rgbClr val="000000"/>
                </a:solidFill>
                <a:latin typeface="Arial"/>
              </a:rPr>
              <a:t>Media medaglie per milione di abitanti (olimpiadi estive)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Med/milione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Slovenia</c:v>
                </c:pt>
                <c:pt idx="1">
                  <c:v>Bulgaria</c:v>
                </c:pt>
                <c:pt idx="2">
                  <c:v>Nuova Zelanda</c:v>
                </c:pt>
                <c:pt idx="3">
                  <c:v>Ungheria</c:v>
                </c:pt>
                <c:pt idx="4">
                  <c:v>Giamaica</c:v>
                </c:pt>
                <c:pt idx="5">
                  <c:v>Samoa</c:v>
                </c:pt>
                <c:pt idx="6">
                  <c:v>Islanda</c:v>
                </c:pt>
                <c:pt idx="7">
                  <c:v>Barbados</c:v>
                </c:pt>
                <c:pt idx="8">
                  <c:v>Bahrain</c:v>
                </c:pt>
                <c:pt idx="9">
                  <c:v>Suriname</c:v>
                </c:pt>
                <c:pt idx="10">
                  <c:v>Djibouti</c:v>
                </c:pt>
                <c:pt idx="11">
                  <c:v>Grenada</c:v>
                </c:pt>
                <c:pt idx="12">
                  <c:v>Tonga</c:v>
                </c:pt>
                <c:pt idx="13">
                  <c:v>Bermuda</c:v>
                </c:pt>
                <c:pt idx="14">
                  <c:v>San Marino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1.73</c:v>
                </c:pt>
                <c:pt idx="1">
                  <c:v>1.78</c:v>
                </c:pt>
                <c:pt idx="2">
                  <c:v>2.38</c:v>
                </c:pt>
                <c:pt idx="3">
                  <c:v>2.19</c:v>
                </c:pt>
                <c:pt idx="4">
                  <c:v>2.2400000000000002</c:v>
                </c:pt>
                <c:pt idx="5">
                  <c:v>5.34</c:v>
                </c:pt>
                <c:pt idx="6">
                  <c:v>3.76</c:v>
                </c:pt>
                <c:pt idx="7">
                  <c:v>3.81</c:v>
                </c:pt>
                <c:pt idx="8">
                  <c:v>3.23</c:v>
                </c:pt>
                <c:pt idx="9">
                  <c:v>2.5</c:v>
                </c:pt>
                <c:pt idx="10">
                  <c:v>2.4</c:v>
                </c:pt>
                <c:pt idx="11">
                  <c:v>8.81</c:v>
                </c:pt>
                <c:pt idx="12">
                  <c:v>9.99</c:v>
                </c:pt>
                <c:pt idx="13">
                  <c:v>17.28</c:v>
                </c:pt>
                <c:pt idx="14">
                  <c:v>88.16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FE-4864-904E-5A5024AEED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chemeClr val="bg1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chemeClr val="bg1"/>
                </a:solidFill>
                <a:latin typeface="Arial"/>
              </a:rPr>
              <a:t>Medaglie Italia per edizione — oro, argento, bronzo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1964</c:v>
                </c:pt>
                <c:pt idx="1">
                  <c:v>1968</c:v>
                </c:pt>
                <c:pt idx="2">
                  <c:v>1972</c:v>
                </c:pt>
                <c:pt idx="3">
                  <c:v>1976</c:v>
                </c:pt>
                <c:pt idx="4">
                  <c:v>1980</c:v>
                </c:pt>
                <c:pt idx="5">
                  <c:v>1984</c:v>
                </c:pt>
                <c:pt idx="6">
                  <c:v>1988</c:v>
                </c:pt>
                <c:pt idx="7">
                  <c:v>1992</c:v>
                </c:pt>
                <c:pt idx="8">
                  <c:v>1996</c:v>
                </c:pt>
                <c:pt idx="9">
                  <c:v>2000</c:v>
                </c:pt>
                <c:pt idx="10">
                  <c:v>2004</c:v>
                </c:pt>
                <c:pt idx="11">
                  <c:v>2008</c:v>
                </c:pt>
                <c:pt idx="12">
                  <c:v>2012</c:v>
                </c:pt>
                <c:pt idx="13">
                  <c:v>2016</c:v>
                </c:pt>
                <c:pt idx="14">
                  <c:v>2020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10</c:v>
                </c:pt>
                <c:pt idx="1">
                  <c:v>3</c:v>
                </c:pt>
                <c:pt idx="2">
                  <c:v>5</c:v>
                </c:pt>
                <c:pt idx="3">
                  <c:v>2</c:v>
                </c:pt>
                <c:pt idx="4">
                  <c:v>8</c:v>
                </c:pt>
                <c:pt idx="5">
                  <c:v>14</c:v>
                </c:pt>
                <c:pt idx="6">
                  <c:v>6</c:v>
                </c:pt>
                <c:pt idx="7">
                  <c:v>6</c:v>
                </c:pt>
                <c:pt idx="8">
                  <c:v>13</c:v>
                </c:pt>
                <c:pt idx="9">
                  <c:v>13</c:v>
                </c:pt>
                <c:pt idx="10">
                  <c:v>10</c:v>
                </c:pt>
                <c:pt idx="11">
                  <c:v>8</c:v>
                </c:pt>
                <c:pt idx="12">
                  <c:v>8</c:v>
                </c:pt>
                <c:pt idx="13">
                  <c:v>8</c:v>
                </c:pt>
                <c:pt idx="1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45-4EB1-8D61-FE2A07D8A9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Argenti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1964</c:v>
                </c:pt>
                <c:pt idx="1">
                  <c:v>1968</c:v>
                </c:pt>
                <c:pt idx="2">
                  <c:v>1972</c:v>
                </c:pt>
                <c:pt idx="3">
                  <c:v>1976</c:v>
                </c:pt>
                <c:pt idx="4">
                  <c:v>1980</c:v>
                </c:pt>
                <c:pt idx="5">
                  <c:v>1984</c:v>
                </c:pt>
                <c:pt idx="6">
                  <c:v>1988</c:v>
                </c:pt>
                <c:pt idx="7">
                  <c:v>1992</c:v>
                </c:pt>
                <c:pt idx="8">
                  <c:v>1996</c:v>
                </c:pt>
                <c:pt idx="9">
                  <c:v>2000</c:v>
                </c:pt>
                <c:pt idx="10">
                  <c:v>2004</c:v>
                </c:pt>
                <c:pt idx="11">
                  <c:v>2008</c:v>
                </c:pt>
                <c:pt idx="12">
                  <c:v>2012</c:v>
                </c:pt>
                <c:pt idx="13">
                  <c:v>2016</c:v>
                </c:pt>
                <c:pt idx="14">
                  <c:v>2020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10</c:v>
                </c:pt>
                <c:pt idx="1">
                  <c:v>4</c:v>
                </c:pt>
                <c:pt idx="2">
                  <c:v>3</c:v>
                </c:pt>
                <c:pt idx="3">
                  <c:v>7</c:v>
                </c:pt>
                <c:pt idx="4">
                  <c:v>3</c:v>
                </c:pt>
                <c:pt idx="5">
                  <c:v>6</c:v>
                </c:pt>
                <c:pt idx="6">
                  <c:v>4</c:v>
                </c:pt>
                <c:pt idx="7">
                  <c:v>5</c:v>
                </c:pt>
                <c:pt idx="8">
                  <c:v>10</c:v>
                </c:pt>
                <c:pt idx="9">
                  <c:v>8</c:v>
                </c:pt>
                <c:pt idx="10">
                  <c:v>11</c:v>
                </c:pt>
                <c:pt idx="11">
                  <c:v>9</c:v>
                </c:pt>
                <c:pt idx="12">
                  <c:v>9</c:v>
                </c:pt>
                <c:pt idx="13">
                  <c:v>12</c:v>
                </c:pt>
                <c:pt idx="1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B45-4EB1-8D61-FE2A07D8A9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Bronzi</c:v>
                </c:pt>
              </c:strCache>
            </c:strRef>
          </c:tx>
          <c:spPr>
            <a:solidFill>
              <a:srgbClr val="CD7F32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1964</c:v>
                </c:pt>
                <c:pt idx="1">
                  <c:v>1968</c:v>
                </c:pt>
                <c:pt idx="2">
                  <c:v>1972</c:v>
                </c:pt>
                <c:pt idx="3">
                  <c:v>1976</c:v>
                </c:pt>
                <c:pt idx="4">
                  <c:v>1980</c:v>
                </c:pt>
                <c:pt idx="5">
                  <c:v>1984</c:v>
                </c:pt>
                <c:pt idx="6">
                  <c:v>1988</c:v>
                </c:pt>
                <c:pt idx="7">
                  <c:v>1992</c:v>
                </c:pt>
                <c:pt idx="8">
                  <c:v>1996</c:v>
                </c:pt>
                <c:pt idx="9">
                  <c:v>2000</c:v>
                </c:pt>
                <c:pt idx="10">
                  <c:v>2004</c:v>
                </c:pt>
                <c:pt idx="11">
                  <c:v>2008</c:v>
                </c:pt>
                <c:pt idx="12">
                  <c:v>2012</c:v>
                </c:pt>
                <c:pt idx="13">
                  <c:v>2016</c:v>
                </c:pt>
                <c:pt idx="14">
                  <c:v>2020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7</c:v>
                </c:pt>
                <c:pt idx="1">
                  <c:v>9</c:v>
                </c:pt>
                <c:pt idx="2">
                  <c:v>10</c:v>
                </c:pt>
                <c:pt idx="3">
                  <c:v>4</c:v>
                </c:pt>
                <c:pt idx="4">
                  <c:v>4</c:v>
                </c:pt>
                <c:pt idx="5">
                  <c:v>12</c:v>
                </c:pt>
                <c:pt idx="6">
                  <c:v>4</c:v>
                </c:pt>
                <c:pt idx="7">
                  <c:v>8</c:v>
                </c:pt>
                <c:pt idx="8">
                  <c:v>12</c:v>
                </c:pt>
                <c:pt idx="9">
                  <c:v>13</c:v>
                </c:pt>
                <c:pt idx="10">
                  <c:v>11</c:v>
                </c:pt>
                <c:pt idx="11">
                  <c:v>10</c:v>
                </c:pt>
                <c:pt idx="12">
                  <c:v>11</c:v>
                </c:pt>
                <c:pt idx="13">
                  <c:v>8</c:v>
                </c:pt>
                <c:pt idx="14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B45-4EB1-8D61-FE2A07D8A9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A0AEC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81830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chemeClr val="bg1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chemeClr val="bg1"/>
                </a:solidFill>
                <a:latin typeface="Arial"/>
              </a:rPr>
              <a:t>PIL pro capite Italia (000 USD)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PIL pro capite (000 USD)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1964</c:v>
                </c:pt>
                <c:pt idx="1">
                  <c:v>1968</c:v>
                </c:pt>
                <c:pt idx="2">
                  <c:v>1972</c:v>
                </c:pt>
                <c:pt idx="3">
                  <c:v>1976</c:v>
                </c:pt>
                <c:pt idx="4">
                  <c:v>1980</c:v>
                </c:pt>
                <c:pt idx="5">
                  <c:v>1984</c:v>
                </c:pt>
                <c:pt idx="6">
                  <c:v>1988</c:v>
                </c:pt>
                <c:pt idx="7">
                  <c:v>1992</c:v>
                </c:pt>
                <c:pt idx="8">
                  <c:v>1996</c:v>
                </c:pt>
                <c:pt idx="9">
                  <c:v>2000</c:v>
                </c:pt>
                <c:pt idx="10">
                  <c:v>2004</c:v>
                </c:pt>
                <c:pt idx="11">
                  <c:v>2008</c:v>
                </c:pt>
                <c:pt idx="12">
                  <c:v>2012</c:v>
                </c:pt>
                <c:pt idx="13">
                  <c:v>2016</c:v>
                </c:pt>
                <c:pt idx="14">
                  <c:v>2020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0.99</c:v>
                </c:pt>
                <c:pt idx="1">
                  <c:v>1.42</c:v>
                </c:pt>
                <c:pt idx="2">
                  <c:v>2.0099999999999998</c:v>
                </c:pt>
                <c:pt idx="3">
                  <c:v>3.41</c:v>
                </c:pt>
                <c:pt idx="4">
                  <c:v>5.32</c:v>
                </c:pt>
                <c:pt idx="5">
                  <c:v>7.89</c:v>
                </c:pt>
                <c:pt idx="6">
                  <c:v>10.34</c:v>
                </c:pt>
                <c:pt idx="7">
                  <c:v>18.77</c:v>
                </c:pt>
                <c:pt idx="8">
                  <c:v>20.54</c:v>
                </c:pt>
                <c:pt idx="9">
                  <c:v>22.36</c:v>
                </c:pt>
                <c:pt idx="10">
                  <c:v>22.7</c:v>
                </c:pt>
                <c:pt idx="11">
                  <c:v>33.69</c:v>
                </c:pt>
                <c:pt idx="12">
                  <c:v>38.049999999999997</c:v>
                </c:pt>
                <c:pt idx="13">
                  <c:v>34.31</c:v>
                </c:pt>
                <c:pt idx="14">
                  <c:v>33.24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192-4AAD-B473-5D207C923C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AE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818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96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315200" y="201168"/>
            <a:ext cx="402336" cy="402336"/>
          </a:xfrm>
          <a:prstGeom prst="ellipse">
            <a:avLst/>
          </a:prstGeom>
          <a:solidFill>
            <a:srgbClr val="0A2342">
              <a:alpha val="0"/>
            </a:srgbClr>
          </a:solidFill>
          <a:ln w="44450">
            <a:solidFill>
              <a:srgbClr val="2E6DB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7790688" y="201168"/>
            <a:ext cx="402336" cy="402336"/>
          </a:xfrm>
          <a:prstGeom prst="ellipse">
            <a:avLst/>
          </a:prstGeom>
          <a:solidFill>
            <a:srgbClr val="0A2342">
              <a:alpha val="0"/>
            </a:srgbClr>
          </a:solidFill>
          <a:ln w="444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266176" y="201168"/>
            <a:ext cx="402336" cy="402336"/>
          </a:xfrm>
          <a:prstGeom prst="ellipse">
            <a:avLst/>
          </a:prstGeom>
          <a:solidFill>
            <a:srgbClr val="0A2342">
              <a:alpha val="0"/>
            </a:srgbClr>
          </a:solidFill>
          <a:ln w="44450">
            <a:solidFill>
              <a:srgbClr val="BE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552944" y="201168"/>
            <a:ext cx="402336" cy="402336"/>
          </a:xfrm>
          <a:prstGeom prst="ellipse">
            <a:avLst/>
          </a:prstGeom>
          <a:solidFill>
            <a:srgbClr val="0A2342">
              <a:alpha val="0"/>
            </a:srgbClr>
          </a:solidFill>
          <a:ln w="444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8028432" y="201168"/>
            <a:ext cx="402336" cy="402336"/>
          </a:xfrm>
          <a:prstGeom prst="ellipse">
            <a:avLst/>
          </a:prstGeom>
          <a:solidFill>
            <a:srgbClr val="0A2342">
              <a:alpha val="0"/>
            </a:srgbClr>
          </a:solidFill>
          <a:ln w="44450">
            <a:solidFill>
              <a:srgbClr val="1D7A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Olimpiadi &amp; Sviluppo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17922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dei dati storici e degli indicatori socioeconomici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27432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olympic_medals_clean.csv  ·  6.513 osservazioni  ·  1964–2022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9809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Gruppo:  </a:t>
            </a: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Dati Olimpici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4315968"/>
            <a:ext cx="1152144" cy="566928"/>
          </a:xfrm>
          <a:prstGeom prst="rect">
            <a:avLst/>
          </a:prstGeom>
          <a:solidFill>
            <a:srgbClr val="0D1C35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74320" y="4334256"/>
            <a:ext cx="1152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Dataset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517904" y="4315968"/>
            <a:ext cx="1152144" cy="566928"/>
          </a:xfrm>
          <a:prstGeom prst="rect">
            <a:avLst/>
          </a:prstGeom>
          <a:solidFill>
            <a:srgbClr val="0D1C35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517904" y="4334256"/>
            <a:ext cx="1152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Qualità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61488" y="4315968"/>
            <a:ext cx="1152144" cy="566928"/>
          </a:xfrm>
          <a:prstGeom prst="rect">
            <a:avLst/>
          </a:prstGeom>
          <a:solidFill>
            <a:srgbClr val="0D1C35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761488" y="4334256"/>
            <a:ext cx="1152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Preparazione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05072" y="4315968"/>
            <a:ext cx="1152144" cy="566928"/>
          </a:xfrm>
          <a:prstGeom prst="rect">
            <a:avLst/>
          </a:prstGeom>
          <a:solidFill>
            <a:srgbClr val="0D1C35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005072" y="4334256"/>
            <a:ext cx="1152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Correlazioni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48656" y="4315968"/>
            <a:ext cx="1152144" cy="566928"/>
          </a:xfrm>
          <a:prstGeom prst="rect">
            <a:avLst/>
          </a:prstGeom>
          <a:solidFill>
            <a:srgbClr val="0D1C35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248656" y="4334256"/>
            <a:ext cx="1152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Storico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92240" y="4315968"/>
            <a:ext cx="1152144" cy="566928"/>
          </a:xfrm>
          <a:prstGeom prst="rect">
            <a:avLst/>
          </a:prstGeom>
          <a:solidFill>
            <a:srgbClr val="0D1C35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492240" y="4334256"/>
            <a:ext cx="1152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Effetto Host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735824" y="4315968"/>
            <a:ext cx="1152144" cy="566928"/>
          </a:xfrm>
          <a:prstGeom prst="rect">
            <a:avLst/>
          </a:prstGeom>
          <a:solidFill>
            <a:srgbClr val="0D1C35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735824" y="4334256"/>
            <a:ext cx="115214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Conclusioni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Il Dataset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8412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Struttura, copertura e principali caratteristiche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92608" y="1207008"/>
            <a:ext cx="19659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A23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92608" y="12984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6.513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92608" y="186537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analizzate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87168" y="1207008"/>
            <a:ext cx="19659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9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487168" y="12984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87168" y="186537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81728" y="1207008"/>
            <a:ext cx="19659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681728" y="12984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81728" y="186537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Edizioni estive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76288" y="1207008"/>
            <a:ext cx="19659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876288" y="129844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76288" y="186537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Indicatori World Bank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2608" y="2423160"/>
            <a:ext cx="50292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A0AE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57200" y="25146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del dataset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" y="2916936"/>
            <a:ext cx="4919472" cy="329184"/>
          </a:xfrm>
          <a:prstGeom prst="rect">
            <a:avLst/>
          </a:prstGeom>
          <a:solidFill>
            <a:srgbClr val="E2ECF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38912" y="2926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Identificatori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304288" y="29260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 · year · country · country_noc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3300984"/>
            <a:ext cx="49194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38912" y="3310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Medaglie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304288" y="33101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· silver · bronze · total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" y="3685032"/>
            <a:ext cx="4919472" cy="329184"/>
          </a:xfrm>
          <a:prstGeom prst="rect">
            <a:avLst/>
          </a:prstGeom>
          <a:solidFill>
            <a:srgbClr val="E2ECF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38912" y="36941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dei Giochi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304288" y="36941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paese_olimpiade · citta_olimpiade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" y="4069080"/>
            <a:ext cx="491947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438912" y="40782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Indicatori WB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04288" y="40782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PIL, Popolazione, Aspettativa vita, Urbanizzazione…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" y="4453128"/>
            <a:ext cx="4919472" cy="329184"/>
          </a:xfrm>
          <a:prstGeom prst="rect">
            <a:avLst/>
          </a:prstGeom>
          <a:solidFill>
            <a:srgbClr val="E2ECF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438912" y="44622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aggiunte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304288" y="44622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medals_per_million · gold_share · log_gdp · is_winter</a:t>
            </a:r>
            <a:endParaRPr lang="en-US" sz="1000" dirty="0"/>
          </a:p>
        </p:txBody>
      </p:sp>
      <p:graphicFrame>
        <p:nvGraphicFramePr>
          <p:cNvPr id="34" name="Chart 0"/>
          <p:cNvGraphicFramePr/>
          <p:nvPr/>
        </p:nvGraphicFramePr>
        <p:xfrm>
          <a:off x="5559552" y="2423160"/>
          <a:ext cx="3291840" cy="2487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Qualità dei Dati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8412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Copertura delle variabili e distribuzione delle medaglie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92608" y="1170432"/>
          <a:ext cx="52120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384048" y="3977640"/>
            <a:ext cx="146304" cy="1463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85216" y="395935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Escluse dall'analisi (&gt;30% NaN)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157984" y="3977640"/>
            <a:ext cx="14630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2359152" y="395935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Usate con cautela (19-30%)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31920" y="3977640"/>
            <a:ext cx="14630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4133088" y="395935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Affidabili (&lt;10%)</a:t>
            </a:r>
            <a:endParaRPr lang="en-US" sz="95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5650992" y="1170432"/>
          <a:ext cx="3218688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5650992" y="3154680"/>
            <a:ext cx="3218688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9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5650992" y="3154680"/>
            <a:ext cx="91440" cy="77724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5852160" y="3264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Distribuzione asimmetrica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852160" y="3584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= 3,7: il 50% dei vincitori ottiene ≤4 medaglie. Pochissimi paesi dominano, il resto è nella coda sinistra.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650992" y="4041648"/>
            <a:ext cx="3218688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5650992" y="4041648"/>
            <a:ext cx="9144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5"/>
          <p:cNvSpPr/>
          <p:nvPr/>
        </p:nvSpPr>
        <p:spPr>
          <a:xfrm>
            <a:off x="5852160" y="41513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vincitori nelle correlazioni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852160" y="44714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80,7% delle righe ha 0 medaglie. Includerle abbassa artificialmente le correlazioni — analisi su soli vincitori.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Data Preparation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8412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Scelte metodologiche e variabili derivate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92608" y="1170432"/>
            <a:ext cx="4023360" cy="1188720"/>
          </a:xfrm>
          <a:prstGeom prst="rect">
            <a:avLst/>
          </a:prstGeom>
          <a:solidFill>
            <a:srgbClr val="112038"/>
          </a:solidFill>
          <a:ln w="254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92608" y="1170432"/>
            <a:ext cx="9144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93776" y="128016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Soglia variabili: 30% NaN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1600200"/>
            <a:ext cx="37307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Escluse 4 variabili con &gt;30% di dati mancanti (spesa militare, settore servizi, istruzione, domanda assicurativa). Rimangono 7 indicatori affidabili per la modellazione.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2478024"/>
            <a:ext cx="4023360" cy="1188720"/>
          </a:xfrm>
          <a:prstGeom prst="rect">
            <a:avLst/>
          </a:prstGeom>
          <a:solidFill>
            <a:srgbClr val="112038"/>
          </a:solidFill>
          <a:ln w="25400">
            <a:solidFill>
              <a:srgbClr val="1A6B9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292608" y="2478024"/>
            <a:ext cx="91440" cy="118872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93776" y="2587752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analisi: solo vincitori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3776" y="2907792"/>
            <a:ext cx="37307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 correlazioni abbiamo filtrato le 958 osservazioni con medaglie &gt; 0 (su 3.579 estive totali). I 2.621 zeri distorcono la regressione verso il basso.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" y="3785616"/>
            <a:ext cx="4023360" cy="1188720"/>
          </a:xfrm>
          <a:prstGeom prst="rect">
            <a:avLst/>
          </a:prstGeom>
          <a:solidFill>
            <a:srgbClr val="112038"/>
          </a:solidFill>
          <a:ln w="254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92608" y="3785616"/>
            <a:ext cx="9144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93776" y="3895344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Trasformazione logaritmica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" y="4215384"/>
            <a:ext cx="37307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totale, PIL pro capite e popolazione hanno distribuzione fortemente skewed. La trasformazione log è necessaria per applicare Pearson e ottenere correlazioni lineari significative.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90288" y="11155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90288" y="1499616"/>
            <a:ext cx="4315968" cy="329184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590288" y="153619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15361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1536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90288" y="1865376"/>
            <a:ext cx="4315968" cy="493776"/>
          </a:xfrm>
          <a:prstGeom prst="rect">
            <a:avLst/>
          </a:prstGeom>
          <a:solidFill>
            <a:srgbClr val="0D1C35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626864" y="19385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medals_per_million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70448" y="193852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Medaglie / (pop / 1M)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193852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equo tra paesi piccoli e grandi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90288" y="2395728"/>
            <a:ext cx="4315968" cy="493776"/>
          </a:xfrm>
          <a:prstGeom prst="rect">
            <a:avLst/>
          </a:prstGeom>
          <a:solidFill>
            <a:srgbClr val="0F2342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626864" y="24688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gold_share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70448" y="246888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 / total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0" y="246888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 vs quantità del bottino olimpico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90288" y="2926080"/>
            <a:ext cx="4315968" cy="493776"/>
          </a:xfrm>
          <a:prstGeom prst="rect">
            <a:avLst/>
          </a:prstGeom>
          <a:solidFill>
            <a:srgbClr val="0D1C35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626864" y="29992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log_gdp_total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70448" y="2999232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log(PIL totale)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0" y="2999232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Normalizza la distribuzione skewed del PIL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90288" y="3456432"/>
            <a:ext cx="4315968" cy="493776"/>
          </a:xfrm>
          <a:prstGeom prst="rect">
            <a:avLst/>
          </a:prstGeom>
          <a:solidFill>
            <a:srgbClr val="0F2342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626864" y="35295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log_gdp_pc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70448" y="3529584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log(PIL pro capite)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0" y="352958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 log del reddito medio per abitante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90288" y="3986784"/>
            <a:ext cx="4315968" cy="493776"/>
          </a:xfrm>
          <a:prstGeom prst="rect">
            <a:avLst/>
          </a:prstGeom>
          <a:solidFill>
            <a:srgbClr val="0D1C35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4626864" y="40599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log_pop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70448" y="4059936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log(Popolazione)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58000" y="4059936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50K (Bermuda) a 1,4B (Cina) — log essenziale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90288" y="4517136"/>
            <a:ext cx="4315968" cy="493776"/>
          </a:xfrm>
          <a:prstGeom prst="rect">
            <a:avLst/>
          </a:prstGeom>
          <a:solidFill>
            <a:srgbClr val="0F2342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4626864" y="45902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is_winter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70448" y="459028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1 (flag binario)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58000" y="459028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le analisi estive da quelle invernali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Correlazioni (1/2)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8412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di Pearson tra medaglie totali e indicatori — olimpiadi estive, solo vincitori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92608" y="1170432"/>
          <a:ext cx="521208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87568" y="1170432"/>
            <a:ext cx="320040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5687568" y="1170432"/>
            <a:ext cx="9144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5888736" y="128016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 &gt; Ricchezza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888736" y="1600200"/>
            <a:ext cx="2907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PIL totale (r=0,68) domina: conta quante risorse ha il sistema-paese, non quanto è ricco ogni abitante. USA, Cina e Russia lo confermano.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87568" y="2084832"/>
            <a:ext cx="320040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9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5687568" y="2084832"/>
            <a:ext cx="91440" cy="80467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5888736" y="219456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pro capite debole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888736" y="2514600"/>
            <a:ext cx="2907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r=0,24 — il reddito individuale spiega meno del 6% della varianza. India, Cina e Kenya smentiscono l'ipotesi di ricchezza individuale.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87568" y="2999232"/>
            <a:ext cx="320040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5687568" y="2999232"/>
            <a:ext cx="9144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5888736" y="310896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umano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888736" y="3429000"/>
            <a:ext cx="2907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Aspettativa di vita (r=0,27) e urbanizzazione (r=0,23): paesi più sviluppati costruiscono accademie sportive strutturate e infrastrutture di supporto.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87568" y="3913632"/>
            <a:ext cx="3200400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0A23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5687568" y="3913632"/>
            <a:ext cx="91440" cy="8046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5888736" y="402336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Popolazione conta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888736" y="4343400"/>
            <a:ext cx="2907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r=0,36 — paesi grandi hanno più talento da selezionare. Il log attenua la distorsione tra Cina (1,4 miliardi) e Giamaica (3 milioni).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Correlazioni (2/2)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665005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Stabilità del segnale economico nel tempo — variazione decennio per decennio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86225750"/>
              </p:ext>
            </p:extLst>
          </p:nvPr>
        </p:nvGraphicFramePr>
        <p:xfrm>
          <a:off x="664120" y="922954"/>
          <a:ext cx="4578120" cy="23688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866091"/>
              </p:ext>
            </p:extLst>
          </p:nvPr>
        </p:nvGraphicFramePr>
        <p:xfrm>
          <a:off x="756224" y="3391834"/>
          <a:ext cx="4486016" cy="1706880"/>
        </p:xfrm>
        <a:graphic>
          <a:graphicData uri="http://schemas.openxmlformats.org/drawingml/2006/table">
            <a:tbl>
              <a:tblPr/>
              <a:tblGrid>
                <a:gridCol w="843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3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2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8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3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Decennio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log(PIL tot.)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log(Pop.)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Aspett. vita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Campione 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AE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70448" y="1170432"/>
            <a:ext cx="30175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9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4"/>
          <p:cNvSpPr/>
          <p:nvPr/>
        </p:nvSpPr>
        <p:spPr>
          <a:xfrm>
            <a:off x="5870448" y="1170432"/>
            <a:ext cx="91440" cy="88696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6071616" y="128016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 '70-'80: calo del segnale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071616" y="160020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Guerra Fredda distorce la correlazione economica: il blocco orientale vince molte medaglie indipendentemente dal PIL — sistema sportivo pianificato.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870448" y="2176272"/>
            <a:ext cx="301752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8"/>
          <p:cNvSpPr/>
          <p:nvPr/>
        </p:nvSpPr>
        <p:spPr>
          <a:xfrm>
            <a:off x="5870448" y="2176272"/>
            <a:ext cx="91440" cy="8869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6071616" y="228600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Anni 2010: ritorno ai massimi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071616" y="260604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fine dei sistemi pianificati e la crescita del professionismo, il segnale economico si rafforza. Investimenti privati e pubblici si riflettono nei risultati.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870448" y="3182112"/>
            <a:ext cx="3017520" cy="886968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5870448" y="3182112"/>
            <a:ext cx="91440" cy="8869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3"/>
          <p:cNvSpPr/>
          <p:nvPr/>
        </p:nvSpPr>
        <p:spPr>
          <a:xfrm>
            <a:off x="6071616" y="329184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Campione in crescita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071616" y="361188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n=60 negli anni '60 a n=243 negli anni 2010. Più paesi partecipano e più dati WB sono disponibili: il segnale è più robusto nelle edizioni recenti.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Analisi Storica (1/4)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8412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delle medaglie assegnate nelle olimpiadi estive (1964–2020)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501136166"/>
              </p:ext>
            </p:extLst>
          </p:nvPr>
        </p:nvGraphicFramePr>
        <p:xfrm>
          <a:off x="292608" y="1170432"/>
          <a:ext cx="5486400" cy="3730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170432"/>
            <a:ext cx="28803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989320" y="1261872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+114%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989320" y="18288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Crescita totale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1964→2020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89320" y="2377440"/>
            <a:ext cx="28803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5989320" y="24688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989320" y="303580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Paesi sul podio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almeno 1 volta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989320" y="3584448"/>
            <a:ext cx="288036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9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5989320" y="3675888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1.080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5989320" y="424281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assoluto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2020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89320" y="3657600"/>
            <a:ext cx="2880360" cy="1243584"/>
          </a:xfrm>
          <a:prstGeom prst="rect">
            <a:avLst/>
          </a:prstGeom>
          <a:solidFill>
            <a:srgbClr val="112038"/>
          </a:solidFill>
          <a:ln w="12700">
            <a:solidFill>
              <a:srgbClr val="A0AE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5989320" y="3657600"/>
            <a:ext cx="91440" cy="1243584"/>
          </a:xfrm>
          <a:prstGeom prst="rect">
            <a:avLst/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6199632" y="3749040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la crescita?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99632" y="4059936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Nuove discipline (beach volley, BMX, skateboard), parità di genere e aumento dei paesi partecipanti spiegano il raddoppio delle medaglie assegnate.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Analisi Storica (2/4)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8412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assoluta — medaglie totali accumulate per paese (estive, 1964–2020)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029744350"/>
              </p:ext>
            </p:extLst>
          </p:nvPr>
        </p:nvGraphicFramePr>
        <p:xfrm>
          <a:off x="292608" y="1170432"/>
          <a:ext cx="6492240" cy="3730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022592" y="1298448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7296912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022592" y="1773936"/>
            <a:ext cx="2011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7296912" y="1755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URSS / Russia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022592" y="2249424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7296912" y="2231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22592" y="2724912"/>
            <a:ext cx="201168" cy="201168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7296912" y="27066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67728" y="3474720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URSS e Russia conteggiate separatamente per la discontinuità storica post-1991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Analisi Storica (3/4)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8412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Evoluzione dei Top 5 paesi e rotture geopolitiche (1964–2020)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92608" y="1170432"/>
          <a:ext cx="59436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46520" y="1170432"/>
            <a:ext cx="36576" cy="37673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6510528" y="9144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Momenti chiave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82512" y="129844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601968" y="12618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223760" y="12618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Boicottaggio USA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01968" y="1517904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URSS domina: 195 medaglie — record assoluto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382512" y="201168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6601968" y="197510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223760" y="19751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Controboicottaggio URSS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01968" y="223113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ottiene 174 medaglie, il suo record storico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82512" y="272491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6601968" y="268833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223760" y="26883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Svolta post-URSS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01968" y="2944368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ed. unificata poi divisione delle repubbliche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382512" y="3438144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6601968" y="340156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223760" y="34015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Cina emerge a Pechino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601968" y="3657600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medaglie, 51 ori — supera USA per ori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382512" y="4151376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6601968" y="411480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223760" y="41148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home advantage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601968" y="4370832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28 (Sidney 2000) a 65 medaglie a Londra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Analisi Storica (4/4) — Crescita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8412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Paesi con maggior incremento: media 1964–1988 vs media 2004–2020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92608" y="1170432"/>
          <a:ext cx="5394960" cy="3730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70448" y="1170432"/>
            <a:ext cx="30175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5870448" y="117043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6071616" y="128016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Bretagna: +39 — caso di studio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071616" y="1600200"/>
            <a:ext cx="2724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UK Lottery Fund (1997) e UK Sport hanno trasformato il sistema sportivo inglese. L'investimento sistematico pre-Londra 2012 ha portato da 28 a 65 medaglie in 12 anni.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70448" y="2487168"/>
            <a:ext cx="30175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9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5870448" y="2487168"/>
            <a:ext cx="91440" cy="117043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6071616" y="259689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e Oceania in ascesa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071616" y="2916936"/>
            <a:ext cx="2724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 del Sud (+24), Giappone (+18) e Australia (+28): grandi eventi ospitati, investimenti pubblici nella preparazione atletica e professionalizzazione dello sport.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70448" y="3803904"/>
            <a:ext cx="30175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5870448" y="3803904"/>
            <a:ext cx="91440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6071616" y="391363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Germania riunificata cresce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071616" y="4233672"/>
            <a:ext cx="2724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 rispetto all'era divisa (Est + Ovest): la riunificazione ha consolidato i migliori atleti sotto una sola bandiera, con risorse unificate.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Analisi Storica (4/4) — Declino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8412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Paesi con maggior calo: media 1964–1988 vs media 2004–2020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541043017"/>
              </p:ext>
            </p:extLst>
          </p:nvPr>
        </p:nvGraphicFramePr>
        <p:xfrm>
          <a:off x="292608" y="1170432"/>
          <a:ext cx="5394960" cy="3730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70448" y="1170432"/>
            <a:ext cx="30175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5870448" y="1170432"/>
            <a:ext cx="91440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6071616" y="128016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Blocco Est — crollo strutturale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071616" y="1600200"/>
            <a:ext cx="2724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Bulgaria (−15), Ungheria (−13), Polonia (−13) e Romania (−10) perdono sistematicamente dopo il 1989. La fine dei programmi sportivi statali ha azzerato finanziamenti e infrastrutture d'élite.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70448" y="2487168"/>
            <a:ext cx="30175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9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5870448" y="2487168"/>
            <a:ext cx="91440" cy="117043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6071616" y="259689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Paesi nordici in calo relativo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071616" y="2916936"/>
            <a:ext cx="2724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Finlandia e Svezia non crollano, ma il resto del mondo cresce più velocemente. Il loro modello sportivo amatoriale fatica a competere con i professionismi emergenti.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70448" y="3803904"/>
            <a:ext cx="3017520" cy="1170432"/>
          </a:xfrm>
          <a:prstGeom prst="rect">
            <a:avLst/>
          </a:prstGeom>
          <a:solidFill>
            <a:srgbClr val="FFFFFF"/>
          </a:solidFill>
          <a:ln w="25400">
            <a:solidFill>
              <a:srgbClr val="4A556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5870448" y="3803904"/>
            <a:ext cx="91440" cy="117043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6071616" y="3913632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dato misura la variazione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071616" y="4233672"/>
            <a:ext cx="2724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Δ di −10 non significa 0 medaglie: la Romania ha ancora 20+ medaglie per edizione. Misura la perdita di dominanza rispetto all'era del sistema pianificato.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Effetto Paese Ospitante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8412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medaglie nell'anno di hosting rispetto alla media delle altre edizioni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479807153"/>
              </p:ext>
            </p:extLst>
          </p:nvPr>
        </p:nvGraphicFramePr>
        <p:xfrm>
          <a:off x="292608" y="1170432"/>
          <a:ext cx="53949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87568" y="1170432"/>
            <a:ext cx="3182112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687568" y="1261872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687568" y="182880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Paesi host con effetto positivo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su 13 edizioni)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87568" y="2212848"/>
            <a:ext cx="3182112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5687568" y="2304288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687568" y="2871216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medio medaglie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ospitante vs media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87568" y="3255264"/>
            <a:ext cx="3182112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9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5687568" y="3346704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~+20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5687568" y="3913632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reale (escl. boicottaggi)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1984 e URSS 1980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87568" y="4343400"/>
            <a:ext cx="3182112" cy="658368"/>
          </a:xfrm>
          <a:prstGeom prst="rect">
            <a:avLst/>
          </a:prstGeom>
          <a:solidFill>
            <a:srgbClr val="112038"/>
          </a:solidFill>
          <a:ln w="25400">
            <a:solidFill>
              <a:srgbClr val="DC2626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5687568" y="4343400"/>
            <a:ext cx="91440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5833872" y="4343400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Boicottaggi: dati distorti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88736" y="4654296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picchi di URSS 1980 (+86) e USA 1984 (+72) riflettono l'assenza dei principali rivali. Escludendoli, il Δ medio host scende a circa +20 medaglie.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Normalizzata per Popolazione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8412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medaglie per milione di abitanti nelle edizioni in cui il paese ha vinto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92608" y="1170432"/>
          <a:ext cx="5669280" cy="3730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144768" y="1170432"/>
            <a:ext cx="274320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0A23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6144768" y="1170432"/>
            <a:ext cx="91440" cy="11155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6345936" y="128016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USA, Cina, Russia: invisibili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345936" y="1600200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tre dominatori assoluti spariscono dalla top 15 normalizzata. La classifica raw misura la forza del sistema; quella per capita misura l'efficienza nell'estrarre talento dalla popolazione.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44768" y="2414016"/>
            <a:ext cx="274320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6144768" y="2414016"/>
            <a:ext cx="91440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6345936" y="252374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Giamaica: 2,24 medaglie/milione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345936" y="2843784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i più efficienti al mondo in termini relativi. L'atletica leggera (200m, 100m, 4×100m) è il vettore principale: specializzazione estrema su poche discipline ad alto rendimento.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44768" y="3657600"/>
            <a:ext cx="2743200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6144768" y="3657600"/>
            <a:ext cx="91440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6345936" y="376732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Marino — dato anomalo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345936" y="4087368"/>
            <a:ext cx="2450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medaglie/milione: con soli 34.000 abitanti, anche 3 medaglie in un'edizione producono un ratio estremo. Il dato è statisticamente fragile: piccola n, alta varianza.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Italia — Olimpiadi Estive 1964–2020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8412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Evoluzione delle medaglie e relazione con il ciclo economico nazionale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235534530"/>
              </p:ext>
            </p:extLst>
          </p:nvPr>
        </p:nvGraphicFramePr>
        <p:xfrm>
          <a:off x="292608" y="1170432"/>
          <a:ext cx="5394960" cy="2395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1940756364"/>
              </p:ext>
            </p:extLst>
          </p:nvPr>
        </p:nvGraphicFramePr>
        <p:xfrm>
          <a:off x="292608" y="3639312"/>
          <a:ext cx="5394960" cy="1298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870448" y="1170432"/>
            <a:ext cx="301752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4"/>
          <p:cNvSpPr/>
          <p:nvPr/>
        </p:nvSpPr>
        <p:spPr>
          <a:xfrm>
            <a:off x="5870448" y="126187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5870448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Medaglie totali estive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 edizioni)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870448" y="2212848"/>
            <a:ext cx="301752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C45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5870448" y="230428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8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25,2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5870448" y="28712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medaglie per edizione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(range: 12–40)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870448" y="3255264"/>
            <a:ext cx="301752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5870448" y="334670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0.45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5870448" y="39136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Correlazione medaglie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PIL pro capite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870448" y="3931920"/>
            <a:ext cx="3017520" cy="896112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3"/>
          <p:cNvSpPr/>
          <p:nvPr/>
        </p:nvSpPr>
        <p:spPr>
          <a:xfrm>
            <a:off x="5870448" y="4023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2020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5870448" y="45902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 storico — 40 medaglie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ori · 10 argenti · 20 bronzi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47472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Conclusioni &amp; Prossimi Passi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72" y="8412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 dei principali risultati e roadmap per sviluppi futuri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1170432"/>
          <a:ext cx="5577840" cy="354787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Correlazione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 totale predittore dominante — dimensione &gt; ricchezza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r=0,68 vs 0,24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Qualità dati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variabili affidabili su 29 — le altre escluse per &gt;30% NaN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Soglia 30% NaN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Medaglie quasi raddoppiate in 56 anni — espansione discipline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504→1.080 (+114%)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Geopolitica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Boicottaggi e fine URSS rompono il segnale economico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1980, 1984, 1992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Effetto host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 dei paesi host migliorano — vantaggio medio +20 medaglie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+22 med. (raw)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Normalizzazione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capita ribalta la classifica: Giamaica batte USA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2,24 vs 0,08 med/M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C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3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Crescita stabile — picco a Tokyo 2020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0AE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r=0,45 con PIL p.c.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126480" y="1170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Prossimi Passi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26480" y="161848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6126480" y="16184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92240" y="15910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predittivo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92240" y="18836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Lasso/Ridge o Random Forest: log(PIL), log(pop), aspett. vita, effetto-paese fisso → stima medaglie LA 2028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26480" y="230428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6126480" y="2304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92240" y="22768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per disciplina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92240" y="25694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Disaggregare per sport: specializzazioni nazionali, cluster di eccellenza, effetto diaspora (es. Kenya in GB)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26480" y="299008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13"/>
          <p:cNvSpPr/>
          <p:nvPr/>
        </p:nvSpPr>
        <p:spPr>
          <a:xfrm>
            <a:off x="6126480" y="2990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92240" y="29626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effetto host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92240" y="32552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Regressione con dummy hosting + interaction term: vantaggio statisticamente significativo o aneddotico?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26480" y="367588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6126480" y="3675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92240" y="36484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Imputazione serie storiche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92240" y="39410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Interpolazione entro-paese per variabili al 20-30% di NaN — sfruttando la struttura panel 1964-2022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126480" y="436168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6126480" y="43616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492240" y="43342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interattiva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92240" y="46268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o Dash: filtri per paese, edizione, indicatore — presentazione live ai decision maker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2378f6b-f1b0-4815-a8da-8a787c8cf5d3}" enabled="1" method="Privileged" siteId="{028226e0-99ea-4fab-9d1b-daa440c9e28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1823</Words>
  <Application>Microsoft Office PowerPoint</Application>
  <PresentationFormat>Presentazione su schermo (16:9)</PresentationFormat>
  <Paragraphs>284</Paragraphs>
  <Slides>15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Gruppo Analisi Dati</dc:creator>
  <cp:lastModifiedBy>Pascuzzi Giuseppe</cp:lastModifiedBy>
  <cp:revision>3</cp:revision>
  <dcterms:created xsi:type="dcterms:W3CDTF">2026-05-30T07:32:23Z</dcterms:created>
  <dcterms:modified xsi:type="dcterms:W3CDTF">2026-05-30T07:41:48Z</dcterms:modified>
</cp:coreProperties>
</file>